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9966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966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966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924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4000" cy="4038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8103" y="2122932"/>
            <a:ext cx="2945130" cy="14485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966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4638" y="478282"/>
            <a:ext cx="6954723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9966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697862"/>
            <a:ext cx="7616825" cy="453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05773" y="6524591"/>
            <a:ext cx="26987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99CC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5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5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5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5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5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6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5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5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5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3582" y="2301062"/>
            <a:ext cx="211709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spc="-530" b="0">
                <a:solidFill>
                  <a:srgbClr val="000000"/>
                </a:solidFill>
                <a:latin typeface="Arial MT"/>
                <a:cs typeface="Arial MT"/>
              </a:rPr>
              <a:t>T</a:t>
            </a:r>
            <a:r>
              <a:rPr dirty="0" sz="5200" spc="55" b="0">
                <a:solidFill>
                  <a:srgbClr val="000000"/>
                </a:solidFill>
                <a:latin typeface="Arial MT"/>
                <a:cs typeface="Arial MT"/>
              </a:rPr>
              <a:t>opic</a:t>
            </a:r>
            <a:r>
              <a:rPr dirty="0" sz="5200" spc="-2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5200" spc="-50" b="0">
                <a:solidFill>
                  <a:srgbClr val="000000"/>
                </a:solidFill>
                <a:latin typeface="Arial MT"/>
                <a:cs typeface="Arial MT"/>
              </a:rPr>
              <a:t>1</a:t>
            </a:r>
            <a:endParaRPr sz="52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915411"/>
            <a:ext cx="9144000" cy="1449070"/>
            <a:chOff x="0" y="2915411"/>
            <a:chExt cx="9144000" cy="14490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915411"/>
              <a:ext cx="3826002" cy="144856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2915411"/>
              <a:ext cx="6172200" cy="144856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-47142" y="3093796"/>
            <a:ext cx="9236710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>
                <a:latin typeface="Arial MT"/>
                <a:cs typeface="Arial MT"/>
              </a:rPr>
              <a:t>1.2</a:t>
            </a:r>
            <a:r>
              <a:rPr dirty="0" sz="5200" spc="-70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Making</a:t>
            </a:r>
            <a:r>
              <a:rPr dirty="0" sz="5200" spc="-50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System</a:t>
            </a:r>
            <a:r>
              <a:rPr dirty="0" sz="5200" spc="-65">
                <a:latin typeface="Arial MT"/>
                <a:cs typeface="Arial MT"/>
              </a:rPr>
              <a:t> </a:t>
            </a:r>
            <a:r>
              <a:rPr dirty="0" sz="5200" spc="-10">
                <a:latin typeface="Arial MT"/>
                <a:cs typeface="Arial MT"/>
              </a:rPr>
              <a:t>Operational</a:t>
            </a:r>
            <a:endParaRPr sz="5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2110" rIns="0" bIns="0" rtlCol="0" vert="horz">
            <a:spAutoFit/>
          </a:bodyPr>
          <a:lstStyle/>
          <a:p>
            <a:pPr marL="22193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926462"/>
            <a:ext cx="7919720" cy="258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Describe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implementation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activities.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99CCFF"/>
              </a:buClr>
              <a:buFont typeface="Wingdings"/>
              <a:buChar char=""/>
            </a:pP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Describe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various</a:t>
            </a:r>
            <a:r>
              <a:rPr dirty="0" sz="2800" spc="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types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software</a:t>
            </a:r>
            <a:r>
              <a:rPr dirty="0" sz="2800" spc="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tests</a:t>
            </a:r>
            <a:r>
              <a:rPr dirty="0" sz="2800" spc="1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1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explain </a:t>
            </a:r>
            <a:r>
              <a:rPr dirty="0" sz="2800">
                <a:latin typeface="Times New Roman"/>
                <a:cs typeface="Times New Roman"/>
              </a:rPr>
              <a:t>how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why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each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used.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99CCFF"/>
              </a:buClr>
              <a:buFont typeface="Wingdings"/>
              <a:buChar char="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CCFF"/>
              </a:buClr>
              <a:buFont typeface="Wingdings"/>
              <a:buChar char=""/>
              <a:tabLst>
                <a:tab pos="355600" algn="l"/>
                <a:tab pos="1670685" algn="l"/>
                <a:tab pos="2312670" algn="l"/>
                <a:tab pos="4118610" algn="l"/>
                <a:tab pos="4624705" algn="l"/>
                <a:tab pos="5267960" algn="l"/>
                <a:tab pos="7392670" algn="l"/>
              </a:tabLst>
            </a:pPr>
            <a:r>
              <a:rPr dirty="0" sz="2800" spc="-10">
                <a:latin typeface="Times New Roman"/>
                <a:cs typeface="Times New Roman"/>
              </a:rPr>
              <a:t>Explain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importance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configuration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88694" y="4538782"/>
          <a:ext cx="7691755" cy="1245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0004"/>
                <a:gridCol w="2811779"/>
                <a:gridCol w="469900"/>
                <a:gridCol w="483870"/>
              </a:tblGrid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050"/>
                        </a:lnSpc>
                        <a:tabLst>
                          <a:tab pos="1697355" algn="l"/>
                        </a:tabLst>
                      </a:pP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dirty="0" sz="2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management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3050"/>
                        </a:lnSpc>
                        <a:tabLst>
                          <a:tab pos="2042160" algn="l"/>
                        </a:tabLst>
                      </a:pP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discipline</a:t>
                      </a:r>
                      <a:r>
                        <a:rPr dirty="0" sz="2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25">
                          <a:latin typeface="Times New Roman"/>
                          <a:cs typeface="Times New Roman"/>
                        </a:rPr>
                        <a:t>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050"/>
                        </a:lnSpc>
                      </a:pPr>
                      <a:r>
                        <a:rPr dirty="0" sz="2800" spc="-25">
                          <a:latin typeface="Times New Roman"/>
                          <a:cs typeface="Times New Roman"/>
                        </a:rPr>
                        <a:t>the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26720">
                <a:tc>
                  <a:txBody>
                    <a:bodyPr/>
                    <a:lstStyle/>
                    <a:p>
                      <a:pPr marL="31750">
                        <a:lnSpc>
                          <a:spcPts val="3185"/>
                        </a:lnSpc>
                        <a:tabLst>
                          <a:tab pos="2660650" algn="l"/>
                        </a:tabLst>
                      </a:pP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implementation,</a:t>
                      </a:r>
                      <a:r>
                        <a:rPr dirty="0" sz="2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testing,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3185"/>
                        </a:lnSpc>
                        <a:tabLst>
                          <a:tab pos="822325" algn="l"/>
                        </a:tabLst>
                      </a:pPr>
                      <a:r>
                        <a:rPr dirty="0" sz="28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deployment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3185"/>
                        </a:lnSpc>
                      </a:pPr>
                      <a:r>
                        <a:rPr dirty="0" sz="28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185"/>
                        </a:lnSpc>
                      </a:pPr>
                      <a:r>
                        <a:rPr dirty="0" sz="2800" spc="-5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130"/>
                        </a:lnSpc>
                      </a:pPr>
                      <a:r>
                        <a:rPr dirty="0" sz="2800" spc="-10">
                          <a:latin typeface="Times New Roman"/>
                          <a:cs typeface="Times New Roman"/>
                        </a:rPr>
                        <a:t>system.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2110" rIns="0" bIns="0" rtlCol="0" vert="horz">
            <a:spAutoFit/>
          </a:bodyPr>
          <a:lstStyle/>
          <a:p>
            <a:pPr marL="78359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Objectives</a:t>
            </a:r>
            <a:r>
              <a:rPr dirty="0" spc="-40"/>
              <a:t> </a:t>
            </a:r>
            <a:r>
              <a:rPr dirty="0" spc="-10"/>
              <a:t>(continued)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926462"/>
            <a:ext cx="7919720" cy="258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List</a:t>
            </a:r>
            <a:r>
              <a:rPr dirty="0" sz="2800" spc="19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various</a:t>
            </a:r>
            <a:r>
              <a:rPr dirty="0" sz="2800" spc="2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approaches</a:t>
            </a:r>
            <a:r>
              <a:rPr dirty="0" sz="2800" spc="20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20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20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conversion</a:t>
            </a:r>
            <a:r>
              <a:rPr dirty="0" sz="2800" spc="210">
                <a:latin typeface="Times New Roman"/>
                <a:cs typeface="Times New Roman"/>
              </a:rPr>
              <a:t> 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deployment</a:t>
            </a:r>
            <a:r>
              <a:rPr dirty="0" sz="2800" spc="1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describe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advantages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disadvantages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each.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99CCFF"/>
              </a:buClr>
              <a:buFont typeface="Wingdings"/>
              <a:buChar char=""/>
            </a:pPr>
            <a:endParaRPr sz="2800">
              <a:latin typeface="Times New Roman"/>
              <a:cs typeface="Times New Roman"/>
            </a:endParaRPr>
          </a:p>
          <a:p>
            <a:pPr algn="just" marL="354330" marR="6350" indent="-342265">
              <a:lnSpc>
                <a:spcPct val="100000"/>
              </a:lnSpc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Describe</a:t>
            </a:r>
            <a:r>
              <a:rPr dirty="0" sz="2800" spc="229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training</a:t>
            </a:r>
            <a:r>
              <a:rPr dirty="0" sz="2800" spc="2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2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user</a:t>
            </a:r>
            <a:r>
              <a:rPr dirty="0" sz="2800" spc="2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support</a:t>
            </a:r>
            <a:r>
              <a:rPr dirty="0" sz="2800" spc="2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requirements</a:t>
            </a:r>
            <a:r>
              <a:rPr dirty="0" sz="2800" spc="24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for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new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operational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23279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Overview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02662"/>
            <a:ext cx="76155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005964" algn="l"/>
                <a:tab pos="2971165" algn="l"/>
                <a:tab pos="4664710" algn="l"/>
                <a:tab pos="5377815" algn="l"/>
                <a:tab pos="7168515" algn="l"/>
              </a:tabLst>
            </a:pPr>
            <a:r>
              <a:rPr dirty="0" sz="2800" spc="-10">
                <a:latin typeface="Times New Roman"/>
                <a:cs typeface="Times New Roman"/>
              </a:rPr>
              <a:t>Activities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from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additional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UP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disciplines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are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4540" y="2279178"/>
            <a:ext cx="7615555" cy="3745229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275"/>
              </a:spcBef>
            </a:pPr>
            <a:r>
              <a:rPr dirty="0" sz="2800">
                <a:latin typeface="Times New Roman"/>
                <a:cs typeface="Times New Roman"/>
              </a:rPr>
              <a:t>needed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bring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being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following:</a:t>
            </a:r>
            <a:endParaRPr sz="2800">
              <a:latin typeface="Times New Roman"/>
              <a:cs typeface="Times New Roman"/>
            </a:endParaRPr>
          </a:p>
          <a:p>
            <a:pPr marL="763905" indent="-295275">
              <a:lnSpc>
                <a:spcPct val="100000"/>
              </a:lnSpc>
              <a:spcBef>
                <a:spcPts val="110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Implementation</a:t>
            </a:r>
            <a:endParaRPr sz="2600">
              <a:latin typeface="Times New Roman"/>
              <a:cs typeface="Times New Roman"/>
            </a:endParaRPr>
          </a:p>
          <a:p>
            <a:pPr marL="763905" indent="-295275">
              <a:lnSpc>
                <a:spcPct val="100000"/>
              </a:lnSpc>
              <a:spcBef>
                <a:spcPts val="109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marL="763905" indent="-295275">
              <a:lnSpc>
                <a:spcPct val="100000"/>
              </a:lnSpc>
              <a:spcBef>
                <a:spcPts val="109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Deployment</a:t>
            </a:r>
            <a:endParaRPr sz="2600">
              <a:latin typeface="Times New Roman"/>
              <a:cs typeface="Times New Roman"/>
            </a:endParaRPr>
          </a:p>
          <a:p>
            <a:pPr marL="763905" indent="-295275">
              <a:lnSpc>
                <a:spcPct val="100000"/>
              </a:lnSpc>
              <a:spcBef>
                <a:spcPts val="109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Configuration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change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management</a:t>
            </a:r>
            <a:endParaRPr sz="26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11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Describe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each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activity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isolation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discuss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interrelationships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among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disciplines.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15659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Implementation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4465" rIns="0" bIns="0" rtlCol="0" vert="horz">
            <a:spAutoFit/>
          </a:bodyPr>
          <a:lstStyle/>
          <a:p>
            <a:pPr marL="355600" marR="889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902585" algn="l"/>
                <a:tab pos="4479925" algn="l"/>
                <a:tab pos="5210175" algn="l"/>
                <a:tab pos="6967855" algn="l"/>
              </a:tabLst>
            </a:pPr>
            <a:r>
              <a:rPr dirty="0" spc="-10"/>
              <a:t>Implementation</a:t>
            </a:r>
            <a:r>
              <a:rPr dirty="0"/>
              <a:t>	</a:t>
            </a:r>
            <a:r>
              <a:rPr dirty="0" spc="-10"/>
              <a:t>activities</a:t>
            </a:r>
            <a:r>
              <a:rPr dirty="0"/>
              <a:t>	</a:t>
            </a:r>
            <a:r>
              <a:rPr dirty="0" spc="-25"/>
              <a:t>are</a:t>
            </a:r>
            <a:r>
              <a:rPr dirty="0"/>
              <a:t>	</a:t>
            </a:r>
            <a:r>
              <a:rPr dirty="0" spc="-10"/>
              <a:t>concerned</a:t>
            </a:r>
            <a:r>
              <a:rPr dirty="0"/>
              <a:t>	</a:t>
            </a:r>
            <a:r>
              <a:rPr dirty="0" spc="-20"/>
              <a:t>with </a:t>
            </a:r>
            <a:r>
              <a:rPr dirty="0"/>
              <a:t>software</a:t>
            </a:r>
            <a:r>
              <a:rPr dirty="0" spc="-100"/>
              <a:t> </a:t>
            </a:r>
            <a:r>
              <a:rPr dirty="0" spc="-10"/>
              <a:t>components.</a:t>
            </a:r>
          </a:p>
          <a:p>
            <a:pPr lvl="1" marL="756285" marR="5080" indent="-288290">
              <a:lnSpc>
                <a:spcPct val="100000"/>
              </a:lnSpc>
              <a:spcBef>
                <a:spcPts val="63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091055" algn="l"/>
                <a:tab pos="3347720" algn="l"/>
                <a:tab pos="3978275" algn="l"/>
                <a:tab pos="4516755" algn="l"/>
                <a:tab pos="5276850" algn="l"/>
                <a:tab pos="687006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Software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modules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that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are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fully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assembled,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ready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use,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have</a:t>
            </a:r>
            <a:r>
              <a:rPr dirty="0" sz="2600" spc="-10">
                <a:latin typeface="Times New Roman"/>
                <a:cs typeface="Times New Roman"/>
              </a:rPr>
              <a:t> well-</a:t>
            </a:r>
            <a:r>
              <a:rPr dirty="0" sz="2600">
                <a:latin typeface="Times New Roman"/>
                <a:cs typeface="Times New Roman"/>
              </a:rPr>
              <a:t>defined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interfaces.</a:t>
            </a:r>
            <a:endParaRPr sz="2600">
              <a:latin typeface="Times New Roman"/>
              <a:cs typeface="Times New Roman"/>
            </a:endParaRPr>
          </a:p>
          <a:p>
            <a:pPr marL="354330" marR="698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711960" algn="l"/>
                <a:tab pos="2157095" algn="l"/>
                <a:tab pos="4025900" algn="l"/>
                <a:tab pos="5833110" algn="l"/>
                <a:tab pos="7327265" algn="l"/>
              </a:tabLst>
            </a:pPr>
            <a:r>
              <a:rPr dirty="0" spc="-10"/>
              <a:t>Choose</a:t>
            </a:r>
            <a:r>
              <a:rPr dirty="0"/>
              <a:t>	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10"/>
              <a:t>component</a:t>
            </a:r>
            <a:r>
              <a:rPr dirty="0"/>
              <a:t>	</a:t>
            </a:r>
            <a:r>
              <a:rPr dirty="0" spc="-10"/>
              <a:t>interaction</a:t>
            </a:r>
            <a:r>
              <a:rPr dirty="0"/>
              <a:t>	</a:t>
            </a:r>
            <a:r>
              <a:rPr dirty="0" spc="-10"/>
              <a:t>standard</a:t>
            </a:r>
            <a:r>
              <a:rPr dirty="0"/>
              <a:t>	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describe</a:t>
            </a:r>
            <a:r>
              <a:rPr dirty="0" spc="-70"/>
              <a:t> </a:t>
            </a:r>
            <a:r>
              <a:rPr dirty="0"/>
              <a:t>how</a:t>
            </a:r>
            <a:r>
              <a:rPr dirty="0" spc="-40"/>
              <a:t> </a:t>
            </a:r>
            <a:r>
              <a:rPr dirty="0"/>
              <a:t>components</a:t>
            </a:r>
            <a:r>
              <a:rPr dirty="0" spc="-55"/>
              <a:t> </a:t>
            </a:r>
            <a:r>
              <a:rPr dirty="0" spc="-10"/>
              <a:t>interact.</a:t>
            </a: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CORBA,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J2EE,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COM,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SOAP</a:t>
            </a:r>
            <a:endParaRPr sz="26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66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032000" algn="l"/>
                <a:tab pos="3245485" algn="l"/>
                <a:tab pos="4545330" algn="l"/>
                <a:tab pos="5391150" algn="l"/>
                <a:tab pos="6085205" algn="l"/>
              </a:tabLst>
            </a:pPr>
            <a:r>
              <a:rPr dirty="0" spc="-10"/>
              <a:t>Implement</a:t>
            </a:r>
            <a:r>
              <a:rPr dirty="0"/>
              <a:t>	</a:t>
            </a:r>
            <a:r>
              <a:rPr dirty="0" spc="-10"/>
              <a:t>classes,</a:t>
            </a:r>
            <a:r>
              <a:rPr dirty="0"/>
              <a:t>	</a:t>
            </a:r>
            <a:r>
              <a:rPr dirty="0" spc="-10"/>
              <a:t>package</a:t>
            </a:r>
            <a:r>
              <a:rPr dirty="0"/>
              <a:t>	</a:t>
            </a:r>
            <a:r>
              <a:rPr dirty="0" spc="-20"/>
              <a:t>them</a:t>
            </a:r>
            <a:r>
              <a:rPr dirty="0"/>
              <a:t>	</a:t>
            </a:r>
            <a:r>
              <a:rPr dirty="0" spc="-20"/>
              <a:t>into</a:t>
            </a:r>
            <a:r>
              <a:rPr dirty="0"/>
              <a:t>	</a:t>
            </a:r>
            <a:r>
              <a:rPr dirty="0" spc="-10"/>
              <a:t>executable </a:t>
            </a:r>
            <a:r>
              <a:rPr dirty="0" spc="-10"/>
              <a:t>	</a:t>
            </a:r>
            <a:r>
              <a:rPr dirty="0"/>
              <a:t>units,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install</a:t>
            </a:r>
            <a:r>
              <a:rPr dirty="0" spc="-30"/>
              <a:t> </a:t>
            </a:r>
            <a:r>
              <a:rPr dirty="0"/>
              <a:t>application</a:t>
            </a:r>
            <a:r>
              <a:rPr dirty="0" spc="-40"/>
              <a:t> </a:t>
            </a:r>
            <a:r>
              <a:rPr dirty="0" spc="-10"/>
              <a:t>software.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70" y="228600"/>
            <a:ext cx="8678329" cy="59436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565138" y="3843604"/>
            <a:ext cx="2187575" cy="964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5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algn="ctr" marL="12700" marR="5080" indent="-2540">
              <a:lnSpc>
                <a:spcPct val="80000"/>
              </a:lnSpc>
              <a:spcBef>
                <a:spcPts val="535"/>
              </a:spcBef>
            </a:pPr>
            <a:r>
              <a:rPr dirty="0" sz="2200" spc="-10">
                <a:latin typeface="Times New Roman"/>
                <a:cs typeface="Times New Roman"/>
              </a:rPr>
              <a:t>Implementation </a:t>
            </a:r>
            <a:r>
              <a:rPr dirty="0" sz="2200">
                <a:latin typeface="Times New Roman"/>
                <a:cs typeface="Times New Roman"/>
              </a:rPr>
              <a:t>discipline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activities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509" y="813257"/>
            <a:ext cx="17462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140" y="1679416"/>
            <a:ext cx="7994650" cy="426402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20">
                <a:latin typeface="Times New Roman"/>
                <a:cs typeface="Times New Roman"/>
              </a:rPr>
              <a:t>Testing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identifying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defects.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Develop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cases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25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 case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formal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description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following:</a:t>
            </a:r>
            <a:endParaRPr sz="26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1160"/>
              </a:spcBef>
              <a:buClr>
                <a:srgbClr val="99CCFF"/>
              </a:buClr>
              <a:buChar char="□"/>
              <a:tabLst>
                <a:tab pos="115506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starting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</a:t>
            </a:r>
            <a:endParaRPr sz="24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1155"/>
              </a:spcBef>
              <a:buClr>
                <a:srgbClr val="99CCFF"/>
              </a:buClr>
              <a:buChar char="□"/>
              <a:tabLst>
                <a:tab pos="1155065" algn="l"/>
              </a:tabLst>
            </a:pP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events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respond</a:t>
            </a:r>
            <a:endParaRPr sz="24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1155"/>
              </a:spcBef>
              <a:buClr>
                <a:srgbClr val="99CCFF"/>
              </a:buClr>
              <a:buChar char="□"/>
              <a:tabLst>
                <a:tab pos="115506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expected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response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ending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</a:t>
            </a:r>
            <a:endParaRPr sz="2400">
              <a:latin typeface="Times New Roman"/>
              <a:cs typeface="Times New Roman"/>
            </a:endParaRPr>
          </a:p>
          <a:p>
            <a:pPr lvl="1" marL="756285" marR="5080" indent="-288925">
              <a:lnSpc>
                <a:spcPct val="100000"/>
              </a:lnSpc>
              <a:spcBef>
                <a:spcPts val="1240"/>
              </a:spcBef>
              <a:buSzPct val="96153"/>
              <a:buFont typeface="Wingdings"/>
              <a:buChar char=""/>
              <a:tabLst>
                <a:tab pos="756285" algn="l"/>
                <a:tab pos="76263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1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</a:t>
            </a:r>
            <a:r>
              <a:rPr dirty="0" sz="2600" spc="1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1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1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set</a:t>
            </a:r>
            <a:r>
              <a:rPr dirty="0" sz="2600" spc="1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1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starting</a:t>
            </a:r>
            <a:r>
              <a:rPr dirty="0" sz="2600" spc="1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states</a:t>
            </a:r>
            <a:r>
              <a:rPr dirty="0" sz="2600" spc="1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1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events</a:t>
            </a:r>
            <a:r>
              <a:rPr dirty="0" sz="2600" spc="1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used</a:t>
            </a:r>
            <a:r>
              <a:rPr dirty="0" sz="2600" spc="18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to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module,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group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modules,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entire</a:t>
            </a:r>
            <a:r>
              <a:rPr dirty="0" sz="2600" spc="-10">
                <a:latin typeface="Times New Roman"/>
                <a:cs typeface="Times New Roman"/>
              </a:rPr>
              <a:t> system.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02" y="228600"/>
            <a:ext cx="8608293" cy="6096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810502" y="3996004"/>
            <a:ext cx="1998980" cy="964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5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algn="ctr" marL="12700" marR="5080">
              <a:lnSpc>
                <a:spcPct val="80000"/>
              </a:lnSpc>
              <a:spcBef>
                <a:spcPts val="535"/>
              </a:spcBef>
            </a:pPr>
            <a:r>
              <a:rPr dirty="0" sz="2200" spc="-20">
                <a:latin typeface="Times New Roman"/>
                <a:cs typeface="Times New Roman"/>
              </a:rPr>
              <a:t>Testing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discipline activities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62125" y="5951321"/>
            <a:ext cx="49333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>
                <a:latin typeface="Times New Roman"/>
                <a:cs typeface="Times New Roman"/>
              </a:rPr>
              <a:t>3: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Test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types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detected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defects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800" y="0"/>
            <a:ext cx="8839200" cy="6002020"/>
            <a:chOff x="304800" y="0"/>
            <a:chExt cx="8839200" cy="6002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286511"/>
              <a:ext cx="8534400" cy="571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2024380">
              <a:lnSpc>
                <a:spcPct val="100000"/>
              </a:lnSpc>
              <a:spcBef>
                <a:spcPts val="105"/>
              </a:spcBef>
            </a:pPr>
            <a:r>
              <a:rPr dirty="0"/>
              <a:t>Unit</a:t>
            </a:r>
            <a:r>
              <a:rPr dirty="0" spc="-90"/>
              <a:t> </a:t>
            </a:r>
            <a:r>
              <a:rPr dirty="0" spc="-5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140" y="1850262"/>
            <a:ext cx="7997190" cy="4380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715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 testing individual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methods, classes, </a:t>
            </a:r>
            <a:r>
              <a:rPr dirty="0" sz="2800" spc="-25">
                <a:latin typeface="Times New Roman"/>
                <a:cs typeface="Times New Roman"/>
              </a:rPr>
              <a:t>or </a:t>
            </a:r>
            <a:r>
              <a:rPr dirty="0" sz="2800">
                <a:latin typeface="Times New Roman"/>
                <a:cs typeface="Times New Roman"/>
              </a:rPr>
              <a:t>components</a:t>
            </a:r>
            <a:r>
              <a:rPr dirty="0" sz="2800" spc="6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before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they</a:t>
            </a:r>
            <a:r>
              <a:rPr dirty="0" sz="2800" spc="6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integrated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60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other software.</a:t>
            </a:r>
            <a:endParaRPr sz="2800">
              <a:latin typeface="Times New Roman"/>
              <a:cs typeface="Times New Roman"/>
            </a:endParaRPr>
          </a:p>
          <a:p>
            <a:pPr algn="just" marL="35560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40">
                <a:latin typeface="Times New Roman"/>
                <a:cs typeface="Times New Roman"/>
              </a:rPr>
              <a:t>Two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methods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isolated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testing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units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 spc="-10">
                <a:latin typeface="Times New Roman"/>
                <a:cs typeface="Times New Roman"/>
              </a:rPr>
              <a:t>Driver</a:t>
            </a:r>
            <a:endParaRPr sz="2600">
              <a:latin typeface="Times New Roman"/>
              <a:cs typeface="Times New Roman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585"/>
              </a:spcBef>
              <a:buClr>
                <a:srgbClr val="99CCFF"/>
              </a:buClr>
              <a:buChar char="□"/>
              <a:tabLst>
                <a:tab pos="1155700" algn="l"/>
                <a:tab pos="2559685" algn="l"/>
                <a:tab pos="3134360" algn="l"/>
                <a:tab pos="4400550" algn="l"/>
                <a:tab pos="4856480" algn="l"/>
                <a:tab pos="5194935" algn="l"/>
                <a:tab pos="6310630" algn="l"/>
                <a:tab pos="6970395" algn="l"/>
                <a:tab pos="7848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Simulates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behavior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method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sends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message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method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tested.</a:t>
            </a:r>
            <a:endParaRPr sz="24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2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 spc="-20">
                <a:latin typeface="Times New Roman"/>
                <a:cs typeface="Times New Roman"/>
              </a:rPr>
              <a:t>Stub</a:t>
            </a:r>
            <a:endParaRPr sz="2600">
              <a:latin typeface="Times New Roman"/>
              <a:cs typeface="Times New Roman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585"/>
              </a:spcBef>
              <a:buClr>
                <a:srgbClr val="99CCFF"/>
              </a:buClr>
              <a:buChar char="□"/>
              <a:tabLst>
                <a:tab pos="1155700" algn="l"/>
                <a:tab pos="2496820" algn="l"/>
                <a:tab pos="3009265" algn="l"/>
                <a:tab pos="4214495" algn="l"/>
                <a:tab pos="4608195" algn="l"/>
                <a:tab pos="4885690" algn="l"/>
                <a:tab pos="5938520" algn="l"/>
                <a:tab pos="6536055" algn="l"/>
                <a:tab pos="7082155" algn="l"/>
                <a:tab pos="7612380" algn="l"/>
              </a:tabLst>
            </a:pPr>
            <a:r>
              <a:rPr dirty="0" sz="2400" spc="-10">
                <a:latin typeface="Times New Roman"/>
                <a:cs typeface="Times New Roman"/>
              </a:rPr>
              <a:t>Simulates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behavior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method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has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not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yet </a:t>
            </a:r>
            <a:r>
              <a:rPr dirty="0" sz="2400">
                <a:latin typeface="Times New Roman"/>
                <a:cs typeface="Times New Roman"/>
              </a:rPr>
              <a:t>been</a:t>
            </a:r>
            <a:r>
              <a:rPr dirty="0" sz="2400" spc="-10">
                <a:latin typeface="Times New Roman"/>
                <a:cs typeface="Times New Roman"/>
              </a:rPr>
              <a:t> written.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0"/>
            <a:ext cx="8686800" cy="58674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719452" y="5978144"/>
            <a:ext cx="59099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>
                <a:latin typeface="Times New Roman"/>
                <a:cs typeface="Times New Roman"/>
              </a:rPr>
              <a:t>5:</a:t>
            </a:r>
            <a:r>
              <a:rPr dirty="0" sz="2200" spc="-14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module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createOrdItem()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8839200" cy="59436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87805" y="6054344"/>
            <a:ext cx="59207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>
                <a:latin typeface="Times New Roman"/>
                <a:cs typeface="Times New Roman"/>
              </a:rPr>
              <a:t>5:</a:t>
            </a:r>
            <a:r>
              <a:rPr dirty="0" sz="2200" spc="-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module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createOrdItem()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05628" y="0"/>
            <a:ext cx="3738879" cy="3205480"/>
            <a:chOff x="5405628" y="0"/>
            <a:chExt cx="3738879" cy="3205480"/>
          </a:xfrm>
        </p:grpSpPr>
        <p:sp>
          <p:nvSpPr>
            <p:cNvPr id="5" name="object 5" descr=""/>
            <p:cNvSpPr/>
            <p:nvPr/>
          </p:nvSpPr>
          <p:spPr>
            <a:xfrm>
              <a:off x="5405628" y="319582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1339"/>
                  </a:lnTo>
                  <a:lnTo>
                    <a:pt x="4572" y="0"/>
                  </a:lnTo>
                  <a:lnTo>
                    <a:pt x="7804" y="1339"/>
                  </a:lnTo>
                  <a:lnTo>
                    <a:pt x="9144" y="4572"/>
                  </a:lnTo>
                  <a:lnTo>
                    <a:pt x="7804" y="7804"/>
                  </a:lnTo>
                  <a:lnTo>
                    <a:pt x="4572" y="9144"/>
                  </a:lnTo>
                  <a:lnTo>
                    <a:pt x="1339" y="7804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8631173" y="6524591"/>
            <a:ext cx="20637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z="1400" spc="-25">
                <a:solidFill>
                  <a:srgbClr val="99CC00"/>
                </a:solidFill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3332" y="813257"/>
            <a:ext cx="45789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Integration</a:t>
            </a:r>
            <a:r>
              <a:rPr dirty="0" spc="-100"/>
              <a:t> </a:t>
            </a:r>
            <a:r>
              <a:rPr dirty="0" spc="-50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97862"/>
            <a:ext cx="8072755" cy="4519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Evaluates</a:t>
            </a:r>
            <a:r>
              <a:rPr dirty="0" sz="2800" spc="4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behavior</a:t>
            </a:r>
            <a:r>
              <a:rPr dirty="0" sz="2800" spc="6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group</a:t>
            </a:r>
            <a:r>
              <a:rPr dirty="0" sz="2800" spc="6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methods</a:t>
            </a:r>
            <a:r>
              <a:rPr dirty="0" sz="2800" spc="55">
                <a:latin typeface="Times New Roman"/>
                <a:cs typeface="Times New Roman"/>
              </a:rPr>
              <a:t>  </a:t>
            </a:r>
            <a:r>
              <a:rPr dirty="0" sz="2800" spc="-25">
                <a:latin typeface="Times New Roman"/>
                <a:cs typeface="Times New Roman"/>
              </a:rPr>
              <a:t>or </a:t>
            </a:r>
            <a:r>
              <a:rPr dirty="0" sz="2800" spc="-10">
                <a:latin typeface="Times New Roman"/>
                <a:cs typeface="Times New Roman"/>
              </a:rPr>
              <a:t>classes.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080" indent="-288925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263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Identifies</a:t>
            </a:r>
            <a:r>
              <a:rPr dirty="0" sz="2600" spc="350">
                <a:latin typeface="Times New Roman"/>
                <a:cs typeface="Times New Roman"/>
              </a:rPr>
              <a:t>    </a:t>
            </a:r>
            <a:r>
              <a:rPr dirty="0" sz="2600">
                <a:latin typeface="Times New Roman"/>
                <a:cs typeface="Times New Roman"/>
              </a:rPr>
              <a:t>interface</a:t>
            </a:r>
            <a:r>
              <a:rPr dirty="0" sz="2600" spc="355">
                <a:latin typeface="Times New Roman"/>
                <a:cs typeface="Times New Roman"/>
              </a:rPr>
              <a:t>    </a:t>
            </a:r>
            <a:r>
              <a:rPr dirty="0" sz="2600">
                <a:latin typeface="Times New Roman"/>
                <a:cs typeface="Times New Roman"/>
              </a:rPr>
              <a:t>compatibility,</a:t>
            </a:r>
            <a:r>
              <a:rPr dirty="0" sz="2600" spc="350">
                <a:latin typeface="Times New Roman"/>
                <a:cs typeface="Times New Roman"/>
              </a:rPr>
              <a:t>    </a:t>
            </a:r>
            <a:r>
              <a:rPr dirty="0" sz="2600" spc="-10">
                <a:latin typeface="Times New Roman"/>
                <a:cs typeface="Times New Roman"/>
              </a:rPr>
              <a:t>unexpected </a:t>
            </a:r>
            <a:r>
              <a:rPr dirty="0" sz="2600">
                <a:latin typeface="Times New Roman"/>
                <a:cs typeface="Times New Roman"/>
              </a:rPr>
              <a:t>parameter</a:t>
            </a:r>
            <a:r>
              <a:rPr dirty="0" sz="2600" spc="9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values</a:t>
            </a:r>
            <a:r>
              <a:rPr dirty="0" sz="2600" spc="9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9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state</a:t>
            </a:r>
            <a:r>
              <a:rPr dirty="0" sz="2600" spc="10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interaction,</a:t>
            </a:r>
            <a:r>
              <a:rPr dirty="0" sz="2600" spc="9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9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run-</a:t>
            </a:r>
            <a:r>
              <a:rPr dirty="0" sz="2600" spc="-20">
                <a:latin typeface="Times New Roman"/>
                <a:cs typeface="Times New Roman"/>
              </a:rPr>
              <a:t>time </a:t>
            </a:r>
            <a:r>
              <a:rPr dirty="0" sz="2600" spc="-10">
                <a:latin typeface="Times New Roman"/>
                <a:cs typeface="Times New Roman"/>
              </a:rPr>
              <a:t>exceptions.</a:t>
            </a:r>
            <a:endParaRPr sz="26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test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715" indent="-288290">
              <a:lnSpc>
                <a:spcPct val="100000"/>
              </a:lnSpc>
              <a:spcBef>
                <a:spcPts val="64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Integration</a:t>
            </a:r>
            <a:r>
              <a:rPr dirty="0" sz="2600" spc="229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2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229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2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behavior</a:t>
            </a:r>
            <a:r>
              <a:rPr dirty="0" sz="2600" spc="2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229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2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entire</a:t>
            </a:r>
            <a:r>
              <a:rPr dirty="0" sz="2600" spc="2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22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or </a:t>
            </a:r>
            <a:r>
              <a:rPr dirty="0" sz="2600">
                <a:latin typeface="Times New Roman"/>
                <a:cs typeface="Times New Roman"/>
              </a:rPr>
              <a:t>independent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subsystem.</a:t>
            </a:r>
            <a:endParaRPr sz="26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Build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smoke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test</a:t>
            </a:r>
            <a:endParaRPr sz="2800">
              <a:latin typeface="Times New Roman"/>
              <a:cs typeface="Times New Roman"/>
            </a:endParaRPr>
          </a:p>
          <a:p>
            <a:pPr algn="just"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performed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daily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several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times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week.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2225" y="813257"/>
            <a:ext cx="40201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Usability</a:t>
            </a:r>
            <a:r>
              <a:rPr dirty="0" spc="-95"/>
              <a:t> </a:t>
            </a:r>
            <a:r>
              <a:rPr dirty="0" spc="-50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807591"/>
            <a:ext cx="7616825" cy="42221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355600" marR="6985" indent="-343535">
              <a:lnSpc>
                <a:spcPts val="3020"/>
              </a:lnSpc>
              <a:spcBef>
                <a:spcPts val="48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Determines</a:t>
            </a:r>
            <a:r>
              <a:rPr dirty="0" sz="2800" spc="5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whether</a:t>
            </a:r>
            <a:r>
              <a:rPr dirty="0" sz="2800" spc="5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5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method,</a:t>
            </a:r>
            <a:r>
              <a:rPr dirty="0" sz="2800" spc="5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class,</a:t>
            </a:r>
            <a:r>
              <a:rPr dirty="0" sz="2800" spc="5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subsystem,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meets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29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Performance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test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6985" indent="-288290">
              <a:lnSpc>
                <a:spcPts val="2810"/>
              </a:lnSpc>
              <a:spcBef>
                <a:spcPts val="67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Determines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whether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5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subsystem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 spc="-25">
                <a:latin typeface="Times New Roman"/>
                <a:cs typeface="Times New Roman"/>
              </a:rPr>
              <a:t>can </a:t>
            </a:r>
            <a:r>
              <a:rPr dirty="0" sz="2600">
                <a:latin typeface="Times New Roman"/>
                <a:cs typeface="Times New Roman"/>
              </a:rPr>
              <a:t>meet</a:t>
            </a:r>
            <a:r>
              <a:rPr dirty="0" sz="2600" spc="-10">
                <a:latin typeface="Times New Roman"/>
                <a:cs typeface="Times New Roman"/>
              </a:rPr>
              <a:t> time-</a:t>
            </a:r>
            <a:r>
              <a:rPr dirty="0" sz="2600">
                <a:latin typeface="Times New Roman"/>
                <a:cs typeface="Times New Roman"/>
              </a:rPr>
              <a:t>based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performance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criteria.</a:t>
            </a:r>
            <a:endParaRPr sz="2600">
              <a:latin typeface="Times New Roman"/>
              <a:cs typeface="Times New Roman"/>
            </a:endParaRPr>
          </a:p>
          <a:p>
            <a:pPr algn="just" lvl="2" marL="1155700" marR="5080" indent="-228600">
              <a:lnSpc>
                <a:spcPct val="90100"/>
              </a:lnSpc>
              <a:spcBef>
                <a:spcPts val="535"/>
              </a:spcBef>
              <a:buClr>
                <a:srgbClr val="99CCFF"/>
              </a:buClr>
              <a:buChar char="□"/>
              <a:tabLst>
                <a:tab pos="1155700" algn="l"/>
              </a:tabLst>
            </a:pPr>
            <a:r>
              <a:rPr dirty="0" sz="2400">
                <a:latin typeface="Times New Roman"/>
                <a:cs typeface="Times New Roman"/>
              </a:rPr>
              <a:t>Response  time</a:t>
            </a:r>
            <a:r>
              <a:rPr dirty="0" sz="2400" spc="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specifies</a:t>
            </a:r>
            <a:r>
              <a:rPr dirty="0" sz="2400" spc="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desired  or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maximum </a:t>
            </a:r>
            <a:r>
              <a:rPr dirty="0" sz="2400">
                <a:latin typeface="Times New Roman"/>
                <a:cs typeface="Times New Roman"/>
              </a:rPr>
              <a:t>allowable</a:t>
            </a:r>
            <a:r>
              <a:rPr dirty="0" sz="2400" spc="2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time</a:t>
            </a:r>
            <a:r>
              <a:rPr dirty="0" sz="2400" spc="254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limit</a:t>
            </a:r>
            <a:r>
              <a:rPr dirty="0" sz="2400" spc="2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2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254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responses</a:t>
            </a:r>
            <a:r>
              <a:rPr dirty="0" sz="2400" spc="254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>
                <a:latin typeface="Times New Roman"/>
                <a:cs typeface="Times New Roman"/>
              </a:rPr>
              <a:t>queries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updates.</a:t>
            </a:r>
            <a:endParaRPr sz="2400">
              <a:latin typeface="Times New Roman"/>
              <a:cs typeface="Times New Roman"/>
            </a:endParaRPr>
          </a:p>
          <a:p>
            <a:pPr algn="just" lvl="2" marL="1155700" marR="5080" indent="-228600">
              <a:lnSpc>
                <a:spcPct val="90000"/>
              </a:lnSpc>
              <a:spcBef>
                <a:spcPts val="575"/>
              </a:spcBef>
              <a:buClr>
                <a:srgbClr val="99CCFF"/>
              </a:buClr>
              <a:buChar char="□"/>
              <a:tabLst>
                <a:tab pos="1155700" algn="l"/>
              </a:tabLst>
            </a:pPr>
            <a:r>
              <a:rPr dirty="0" sz="2400">
                <a:latin typeface="Times New Roman"/>
                <a:cs typeface="Times New Roman"/>
              </a:rPr>
              <a:t>Throughput</a:t>
            </a:r>
            <a:r>
              <a:rPr dirty="0" sz="2400" spc="3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specifies</a:t>
            </a:r>
            <a:r>
              <a:rPr dirty="0" sz="2400" spc="3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desired</a:t>
            </a:r>
            <a:r>
              <a:rPr dirty="0" sz="2400" spc="3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38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minimum </a:t>
            </a:r>
            <a:r>
              <a:rPr dirty="0" sz="2400">
                <a:latin typeface="Times New Roman"/>
                <a:cs typeface="Times New Roman"/>
              </a:rPr>
              <a:t>number</a:t>
            </a:r>
            <a:r>
              <a:rPr dirty="0" sz="2400" spc="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queries</a:t>
            </a:r>
            <a:r>
              <a:rPr dirty="0" sz="2400" spc="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transactions</a:t>
            </a:r>
            <a:r>
              <a:rPr dirty="0" sz="2400" spc="4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4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be </a:t>
            </a:r>
            <a:r>
              <a:rPr dirty="0" sz="2400">
                <a:latin typeface="Times New Roman"/>
                <a:cs typeface="Times New Roman"/>
              </a:rPr>
              <a:t>processed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minute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hour.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579120">
              <a:lnSpc>
                <a:spcPct val="100000"/>
              </a:lnSpc>
              <a:spcBef>
                <a:spcPts val="105"/>
              </a:spcBef>
            </a:pPr>
            <a:r>
              <a:rPr dirty="0"/>
              <a:t>User</a:t>
            </a:r>
            <a:r>
              <a:rPr dirty="0" spc="-345"/>
              <a:t> </a:t>
            </a:r>
            <a:r>
              <a:rPr dirty="0"/>
              <a:t>Acceptance</a:t>
            </a:r>
            <a:r>
              <a:rPr dirty="0" spc="-125"/>
              <a:t> </a:t>
            </a:r>
            <a:r>
              <a:rPr dirty="0" spc="-4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02662"/>
            <a:ext cx="6722109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292985" algn="l"/>
                <a:tab pos="3737610" algn="l"/>
                <a:tab pos="4472305" algn="l"/>
                <a:tab pos="5758815" algn="l"/>
              </a:tabLst>
            </a:pPr>
            <a:r>
              <a:rPr dirty="0" sz="2800" spc="-10">
                <a:latin typeface="Times New Roman"/>
                <a:cs typeface="Times New Roman"/>
              </a:rPr>
              <a:t>Determines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whether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system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fulfills requirements.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62493" y="2002662"/>
            <a:ext cx="618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Times New Roman"/>
                <a:cs typeface="Times New Roman"/>
              </a:rPr>
              <a:t>user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4540" y="3252596"/>
            <a:ext cx="7614284" cy="1701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3905" indent="-295275">
              <a:lnSpc>
                <a:spcPct val="100000"/>
              </a:lnSpc>
              <a:spcBef>
                <a:spcPts val="10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Involves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end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users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199640" algn="l"/>
                <a:tab pos="3336925" algn="l"/>
                <a:tab pos="3764915" algn="l"/>
                <a:tab pos="4110990" algn="l"/>
                <a:tab pos="4932680" algn="l"/>
                <a:tab pos="6071235" algn="l"/>
                <a:tab pos="7327265" algn="l"/>
              </a:tabLst>
            </a:pPr>
            <a:r>
              <a:rPr dirty="0" sz="2800" spc="-10">
                <a:latin typeface="Times New Roman"/>
                <a:cs typeface="Times New Roman"/>
              </a:rPr>
              <a:t>Acceptance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testing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very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formal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activity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35">
                <a:latin typeface="Times New Roman"/>
                <a:cs typeface="Times New Roman"/>
              </a:rPr>
              <a:t>in </a:t>
            </a:r>
            <a:r>
              <a:rPr dirty="0" sz="2800">
                <a:latin typeface="Times New Roman"/>
                <a:cs typeface="Times New Roman"/>
              </a:rPr>
              <a:t>most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development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projects.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964565">
              <a:lnSpc>
                <a:spcPct val="100000"/>
              </a:lnSpc>
              <a:spcBef>
                <a:spcPts val="105"/>
              </a:spcBef>
            </a:pPr>
            <a:r>
              <a:rPr dirty="0"/>
              <a:t>Who</a:t>
            </a:r>
            <a:r>
              <a:rPr dirty="0" spc="-210"/>
              <a:t> </a:t>
            </a:r>
            <a:r>
              <a:rPr dirty="0" spc="-35"/>
              <a:t>Tests</a:t>
            </a:r>
            <a:r>
              <a:rPr dirty="0" spc="-120"/>
              <a:t> </a:t>
            </a:r>
            <a:r>
              <a:rPr dirty="0" spc="-10"/>
              <a:t>Software?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917157"/>
            <a:ext cx="7581265" cy="40506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r" marL="342900" marR="5306060" indent="-342900">
              <a:lnSpc>
                <a:spcPct val="100000"/>
              </a:lnSpc>
              <a:spcBef>
                <a:spcPts val="430"/>
              </a:spcBef>
              <a:buClr>
                <a:srgbClr val="99CCFF"/>
              </a:buClr>
              <a:buFont typeface="Wingdings"/>
              <a:buChar char=""/>
              <a:tabLst>
                <a:tab pos="342900" algn="l"/>
              </a:tabLst>
            </a:pPr>
            <a:r>
              <a:rPr dirty="0" sz="2800" spc="-10">
                <a:latin typeface="Times New Roman"/>
                <a:cs typeface="Times New Roman"/>
              </a:rPr>
              <a:t>Programmers</a:t>
            </a:r>
            <a:endParaRPr sz="2800">
              <a:latin typeface="Times New Roman"/>
              <a:cs typeface="Times New Roman"/>
            </a:endParaRPr>
          </a:p>
          <a:p>
            <a:pPr algn="r" lvl="1" marL="293370" marR="5258435" indent="-293370">
              <a:lnSpc>
                <a:spcPct val="100000"/>
              </a:lnSpc>
              <a:spcBef>
                <a:spcPts val="320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293370" algn="l"/>
              </a:tabLst>
            </a:pPr>
            <a:r>
              <a:rPr dirty="0" sz="2600">
                <a:latin typeface="Times New Roman"/>
                <a:cs typeface="Times New Roman"/>
              </a:rPr>
              <a:t>Unit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lvl="1" marL="763905" indent="-294005">
              <a:lnSpc>
                <a:spcPct val="100000"/>
              </a:lnSpc>
              <a:spcBef>
                <a:spcPts val="315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Testing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buddies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other’s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programmer’s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code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Users</a:t>
            </a:r>
            <a:endParaRPr sz="2800">
              <a:latin typeface="Times New Roman"/>
              <a:cs typeface="Times New Roman"/>
            </a:endParaRPr>
          </a:p>
          <a:p>
            <a:pPr lvl="1" marL="763270" indent="-293370">
              <a:lnSpc>
                <a:spcPct val="100000"/>
              </a:lnSpc>
              <a:spcBef>
                <a:spcPts val="320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Usability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acceptance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lvl="1" marL="763905" indent="-294005">
              <a:lnSpc>
                <a:spcPct val="100000"/>
              </a:lnSpc>
              <a:spcBef>
                <a:spcPts val="315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905" algn="l"/>
              </a:tabLst>
            </a:pPr>
            <a:r>
              <a:rPr dirty="0" sz="2600" spc="-30">
                <a:latin typeface="Times New Roman"/>
                <a:cs typeface="Times New Roman"/>
              </a:rPr>
              <a:t>Volunteers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frequently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beta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versions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Quality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assurance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personnel</a:t>
            </a:r>
            <a:endParaRPr sz="2800">
              <a:latin typeface="Times New Roman"/>
              <a:cs typeface="Times New Roman"/>
            </a:endParaRPr>
          </a:p>
          <a:p>
            <a:pPr lvl="1" marL="763270" indent="-293370">
              <a:lnSpc>
                <a:spcPct val="100000"/>
              </a:lnSpc>
              <a:spcBef>
                <a:spcPts val="320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All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testing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types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except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unit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acceptance</a:t>
            </a:r>
            <a:endParaRPr sz="2600">
              <a:latin typeface="Times New Roman"/>
              <a:cs typeface="Times New Roman"/>
            </a:endParaRPr>
          </a:p>
          <a:p>
            <a:pPr lvl="1" marL="763905" indent="-294005">
              <a:lnSpc>
                <a:spcPct val="100000"/>
              </a:lnSpc>
              <a:spcBef>
                <a:spcPts val="315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Develop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plans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identify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needed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changes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908810" marR="5080" indent="-1632585">
              <a:lnSpc>
                <a:spcPct val="100000"/>
              </a:lnSpc>
              <a:spcBef>
                <a:spcPts val="105"/>
              </a:spcBef>
            </a:pPr>
            <a:r>
              <a:rPr dirty="0"/>
              <a:t>Configuration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Change 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9740" y="2078862"/>
            <a:ext cx="7920355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635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Controls</a:t>
            </a:r>
            <a:r>
              <a:rPr dirty="0" sz="2800" spc="2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2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complexity</a:t>
            </a:r>
            <a:r>
              <a:rPr dirty="0" sz="2800" spc="2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associated</a:t>
            </a:r>
            <a:r>
              <a:rPr dirty="0" sz="2800" spc="2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25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testing</a:t>
            </a:r>
            <a:r>
              <a:rPr dirty="0" sz="2800" spc="229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supporting</a:t>
            </a:r>
            <a:r>
              <a:rPr dirty="0" sz="2800" spc="4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4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4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through</a:t>
            </a:r>
            <a:r>
              <a:rPr dirty="0" sz="2800" spc="4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multiple</a:t>
            </a:r>
            <a:r>
              <a:rPr dirty="0" sz="2800" spc="4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development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operational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versions.</a:t>
            </a:r>
            <a:endParaRPr sz="2800">
              <a:latin typeface="Times New Roman"/>
              <a:cs typeface="Times New Roman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Integrally</a:t>
            </a:r>
            <a:r>
              <a:rPr dirty="0" sz="2800" spc="605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related</a:t>
            </a:r>
            <a:r>
              <a:rPr dirty="0" sz="2800" spc="625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630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630">
                <a:latin typeface="Times New Roman"/>
                <a:cs typeface="Times New Roman"/>
              </a:rPr>
              <a:t>   </a:t>
            </a:r>
            <a:r>
              <a:rPr dirty="0" sz="2800" spc="-10">
                <a:latin typeface="Times New Roman"/>
                <a:cs typeface="Times New Roman"/>
              </a:rPr>
              <a:t>management, </a:t>
            </a:r>
            <a:r>
              <a:rPr dirty="0" sz="2800">
                <a:latin typeface="Times New Roman"/>
                <a:cs typeface="Times New Roman"/>
              </a:rPr>
              <a:t>implementation,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testing,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deployment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activities.</a:t>
            </a:r>
            <a:endParaRPr sz="2800">
              <a:latin typeface="Times New Roman"/>
              <a:cs typeface="Times New Roman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Change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control</a:t>
            </a:r>
            <a:r>
              <a:rPr dirty="0" sz="2800" spc="4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procedures</a:t>
            </a:r>
            <a:r>
              <a:rPr dirty="0" sz="2800" spc="48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typically</a:t>
            </a:r>
            <a:r>
              <a:rPr dirty="0" sz="2800" spc="4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developed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first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iteration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before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development.</a:t>
            </a:r>
            <a:endParaRPr sz="28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Need</a:t>
            </a:r>
            <a:r>
              <a:rPr dirty="0" sz="2800" spc="6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1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formal  procedures</a:t>
            </a:r>
            <a:r>
              <a:rPr dirty="0" sz="2800" spc="1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depends  on</a:t>
            </a:r>
            <a:r>
              <a:rPr dirty="0" sz="2800" spc="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size 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cohesiveness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project.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47" y="228600"/>
            <a:ext cx="8551960" cy="60198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09029" y="3919804"/>
            <a:ext cx="2312035" cy="1232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50">
                <a:latin typeface="Times New Roman"/>
                <a:cs typeface="Times New Roman"/>
              </a:rPr>
              <a:t>7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110"/>
              </a:lnSpc>
              <a:spcBef>
                <a:spcPts val="515"/>
              </a:spcBef>
            </a:pPr>
            <a:r>
              <a:rPr dirty="0" sz="2200">
                <a:latin typeface="Times New Roman"/>
                <a:cs typeface="Times New Roman"/>
              </a:rPr>
              <a:t>Configuration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>
                <a:latin typeface="Times New Roman"/>
                <a:cs typeface="Times New Roman"/>
              </a:rPr>
              <a:t>change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management </a:t>
            </a:r>
            <a:r>
              <a:rPr dirty="0" sz="2200">
                <a:latin typeface="Times New Roman"/>
                <a:cs typeface="Times New Roman"/>
              </a:rPr>
              <a:t>discipline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activities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8885" y="813257"/>
            <a:ext cx="25850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Versioning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550035"/>
            <a:ext cx="7616190" cy="45618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Alpha </a:t>
            </a:r>
            <a:r>
              <a:rPr dirty="0" sz="2400" spc="-10">
                <a:latin typeface="Times New Roman"/>
                <a:cs typeface="Times New Roman"/>
              </a:rPr>
              <a:t>version</a:t>
            </a:r>
            <a:endParaRPr sz="2400">
              <a:latin typeface="Times New Roman"/>
              <a:cs typeface="Times New Roman"/>
            </a:endParaRPr>
          </a:p>
          <a:p>
            <a:pPr lvl="1" marL="755015" marR="5715" indent="-285750">
              <a:lnSpc>
                <a:spcPts val="2590"/>
              </a:lnSpc>
              <a:spcBef>
                <a:spcPts val="615"/>
              </a:spcBef>
              <a:buClr>
                <a:srgbClr val="99CCFF"/>
              </a:buClr>
              <a:buFont typeface="Wingdings"/>
              <a:buChar char="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version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incomplete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but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ready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some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level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rigorous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usability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testing.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400" spc="-20">
                <a:latin typeface="Times New Roman"/>
                <a:cs typeface="Times New Roman"/>
              </a:rPr>
              <a:t>Beta</a:t>
            </a:r>
            <a:endParaRPr sz="2400">
              <a:latin typeface="Times New Roman"/>
              <a:cs typeface="Times New Roman"/>
            </a:endParaRPr>
          </a:p>
          <a:p>
            <a:pPr lvl="1" marL="755015" marR="5080" indent="-285750">
              <a:lnSpc>
                <a:spcPts val="2590"/>
              </a:lnSpc>
              <a:spcBef>
                <a:spcPts val="620"/>
              </a:spcBef>
              <a:buClr>
                <a:srgbClr val="99CCFF"/>
              </a:buClr>
              <a:buFont typeface="Wingdings"/>
              <a:buChar char="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version</a:t>
            </a:r>
            <a:r>
              <a:rPr dirty="0" sz="2400" spc="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stable</a:t>
            </a:r>
            <a:r>
              <a:rPr dirty="0" sz="2400" spc="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enough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3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tested</a:t>
            </a:r>
            <a:r>
              <a:rPr dirty="0" sz="2400" spc="3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3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end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extended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period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Production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version</a:t>
            </a:r>
            <a:endParaRPr sz="2400">
              <a:latin typeface="Times New Roman"/>
              <a:cs typeface="Times New Roman"/>
            </a:endParaRPr>
          </a:p>
          <a:p>
            <a:pPr lvl="1" marL="755015" marR="6985" indent="-285750">
              <a:lnSpc>
                <a:spcPts val="2590"/>
              </a:lnSpc>
              <a:spcBef>
                <a:spcPts val="620"/>
              </a:spcBef>
              <a:buClr>
                <a:srgbClr val="99CCFF"/>
              </a:buClr>
              <a:buFont typeface="Wingdings"/>
              <a:buChar char="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version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formally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or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made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operational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long-</a:t>
            </a:r>
            <a:r>
              <a:rPr dirty="0" sz="2400">
                <a:latin typeface="Times New Roman"/>
                <a:cs typeface="Times New Roman"/>
              </a:rPr>
              <a:t>term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Maintenance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release</a:t>
            </a:r>
            <a:endParaRPr sz="2400">
              <a:latin typeface="Times New Roman"/>
              <a:cs typeface="Times New Roman"/>
            </a:endParaRPr>
          </a:p>
          <a:p>
            <a:pPr lvl="1" marL="755015" marR="5080" indent="-285750">
              <a:lnSpc>
                <a:spcPts val="2590"/>
              </a:lnSpc>
              <a:spcBef>
                <a:spcPts val="620"/>
              </a:spcBef>
              <a:buClr>
                <a:srgbClr val="99CCFF"/>
              </a:buClr>
              <a:buFont typeface="Wingdings"/>
              <a:buChar char=""/>
              <a:tabLst>
                <a:tab pos="756285" algn="l"/>
                <a:tab pos="1864360" algn="l"/>
                <a:tab pos="2890520" algn="l"/>
                <a:tab pos="3557904" algn="l"/>
                <a:tab pos="4819650" algn="l"/>
                <a:tab pos="5488940" algn="l"/>
                <a:tab pos="6294120" algn="l"/>
                <a:tab pos="6944995" algn="l"/>
              </a:tabLst>
            </a:pPr>
            <a:r>
              <a:rPr dirty="0" sz="2400" spc="-10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update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provides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bug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fixes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small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changes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features.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10311"/>
            <a:ext cx="8534400" cy="5715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36928" y="5749544"/>
            <a:ext cx="6619875" cy="62865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988060" marR="5080" indent="-975360">
              <a:lnSpc>
                <a:spcPct val="80000"/>
              </a:lnSpc>
              <a:spcBef>
                <a:spcPts val="62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13-8: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time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line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production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versions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for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RMO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customer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(CSS)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57601" y="5290820"/>
            <a:ext cx="3904615" cy="69723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1371600">
              <a:lnSpc>
                <a:spcPct val="100499"/>
              </a:lnSpc>
              <a:spcBef>
                <a:spcPts val="80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50">
                <a:latin typeface="Times New Roman"/>
                <a:cs typeface="Times New Roman"/>
              </a:rPr>
              <a:t>9 </a:t>
            </a:r>
            <a:r>
              <a:rPr dirty="0" sz="2200">
                <a:latin typeface="Times New Roman"/>
                <a:cs typeface="Times New Roman"/>
              </a:rPr>
              <a:t>Description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RMO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CSS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versions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85800" y="0"/>
            <a:ext cx="8458200" cy="5299075"/>
            <a:chOff x="685800" y="0"/>
            <a:chExt cx="8458200" cy="5299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362711"/>
              <a:ext cx="7924800" cy="49362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51585" marR="5080" indent="-1239520">
              <a:lnSpc>
                <a:spcPct val="100000"/>
              </a:lnSpc>
              <a:spcBef>
                <a:spcPts val="105"/>
              </a:spcBef>
            </a:pPr>
            <a:r>
              <a:rPr dirty="0"/>
              <a:t>Submitting Change</a:t>
            </a:r>
            <a:r>
              <a:rPr dirty="0" spc="-20"/>
              <a:t> </a:t>
            </a:r>
            <a:r>
              <a:rPr dirty="0" spc="-10"/>
              <a:t>Requests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Error</a:t>
            </a:r>
            <a:r>
              <a:rPr dirty="0" spc="-145"/>
              <a:t> </a:t>
            </a:r>
            <a:r>
              <a:rPr dirty="0" spc="-10"/>
              <a:t>Reports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102698"/>
            <a:ext cx="7613650" cy="405892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20">
                <a:latin typeface="Times New Roman"/>
                <a:cs typeface="Times New Roman"/>
              </a:rPr>
              <a:t>Typical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change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control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procedures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include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95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Standard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change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request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forms</a:t>
            </a:r>
            <a:endParaRPr sz="26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869"/>
              </a:spcBef>
              <a:buClr>
                <a:srgbClr val="99CCFF"/>
              </a:buClr>
              <a:buChar char="□"/>
              <a:tabLst>
                <a:tab pos="1155065" algn="l"/>
              </a:tabLst>
            </a:pPr>
            <a:r>
              <a:rPr dirty="0" sz="2400">
                <a:latin typeface="Times New Roman"/>
                <a:cs typeface="Times New Roman"/>
              </a:rPr>
              <a:t>Completed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owner.</a:t>
            </a:r>
            <a:endParaRPr sz="24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9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Review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requests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by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change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control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committee</a:t>
            </a:r>
            <a:endParaRPr sz="26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875"/>
              </a:spcBef>
              <a:buClr>
                <a:srgbClr val="99CCFF"/>
              </a:buClr>
              <a:buChar char="□"/>
              <a:tabLst>
                <a:tab pos="1155065" algn="l"/>
              </a:tabLst>
            </a:pPr>
            <a:r>
              <a:rPr dirty="0" sz="2400">
                <a:latin typeface="Times New Roman"/>
                <a:cs typeface="Times New Roman"/>
              </a:rPr>
              <a:t>Assess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impact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security,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budget.</a:t>
            </a:r>
            <a:endParaRPr sz="24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9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Extensive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planning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design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implementation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100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Bugs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reports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often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reported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separately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because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need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immediate </a:t>
            </a:r>
            <a:r>
              <a:rPr dirty="0" sz="2800" spc="-20">
                <a:latin typeface="Times New Roman"/>
                <a:cs typeface="Times New Roman"/>
              </a:rPr>
              <a:t>fix.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61220" y="0"/>
            <a:ext cx="8682990" cy="5943600"/>
            <a:chOff x="461220" y="0"/>
            <a:chExt cx="8682990" cy="594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220" y="304800"/>
              <a:ext cx="8225579" cy="5638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3" y="0"/>
              <a:ext cx="1011935" cy="123443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112645" y="5978144"/>
            <a:ext cx="49936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40">
                <a:latin typeface="Times New Roman"/>
                <a:cs typeface="Times New Roman"/>
              </a:rPr>
              <a:t>11: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sample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change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request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form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740" y="5978144"/>
            <a:ext cx="49587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13-12: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sample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change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review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form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5169" y="0"/>
            <a:ext cx="8759190" cy="6019800"/>
            <a:chOff x="385169" y="0"/>
            <a:chExt cx="8759190" cy="601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169" y="381000"/>
              <a:ext cx="8530230" cy="5638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3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603885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dirty="0" spc="-35"/>
              <a:t> </a:t>
            </a:r>
            <a:r>
              <a:rPr dirty="0"/>
              <a:t>a </a:t>
            </a:r>
            <a:r>
              <a:rPr dirty="0" spc="-10"/>
              <a:t>Change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140" y="1850262"/>
            <a:ext cx="7922895" cy="4434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762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Change</a:t>
            </a:r>
            <a:r>
              <a:rPr dirty="0" sz="2800" spc="2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implementation</a:t>
            </a:r>
            <a:r>
              <a:rPr dirty="0" sz="2800" spc="2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follows</a:t>
            </a:r>
            <a:r>
              <a:rPr dirty="0" sz="2800" spc="2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2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miniature</a:t>
            </a:r>
            <a:r>
              <a:rPr dirty="0" sz="2800" spc="2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version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UP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life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cycle.</a:t>
            </a:r>
            <a:endParaRPr sz="2800">
              <a:latin typeface="Times New Roman"/>
              <a:cs typeface="Times New Roman"/>
            </a:endParaRPr>
          </a:p>
          <a:p>
            <a:pPr lvl="1" marL="756285" marR="5080" indent="-288290">
              <a:lnSpc>
                <a:spcPct val="100000"/>
              </a:lnSpc>
              <a:spcBef>
                <a:spcPts val="63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1620520" algn="l"/>
                <a:tab pos="2204085" algn="l"/>
                <a:tab pos="3007360" algn="l"/>
                <a:tab pos="4544060" algn="l"/>
                <a:tab pos="5438775" algn="l"/>
                <a:tab pos="678942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One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or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two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iterations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with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reduced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business </a:t>
            </a:r>
            <a:r>
              <a:rPr dirty="0" sz="2600">
                <a:latin typeface="Times New Roman"/>
                <a:cs typeface="Times New Roman"/>
              </a:rPr>
              <a:t>modeling,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requirements,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design</a:t>
            </a:r>
            <a:r>
              <a:rPr dirty="0" sz="2600" spc="-10">
                <a:latin typeface="Times New Roman"/>
                <a:cs typeface="Times New Roman"/>
              </a:rPr>
              <a:t> activities.</a:t>
            </a:r>
            <a:endParaRPr sz="2600">
              <a:latin typeface="Times New Roman"/>
              <a:cs typeface="Times New Roman"/>
            </a:endParaRPr>
          </a:p>
          <a:p>
            <a:pPr marL="354330" marR="7620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When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possible,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changes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implemented</a:t>
            </a:r>
            <a:r>
              <a:rPr dirty="0" sz="2800" spc="2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204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copy 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production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lvl="1" marL="756285" marR="6350" indent="-288290">
              <a:lnSpc>
                <a:spcPct val="100000"/>
              </a:lnSpc>
              <a:spcBef>
                <a:spcPts val="63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1412875" algn="l"/>
                <a:tab pos="2980055" algn="l"/>
                <a:tab pos="4033520" algn="l"/>
                <a:tab pos="4390390" algn="l"/>
                <a:tab pos="4929505" algn="l"/>
                <a:tab pos="6038850" algn="l"/>
                <a:tab pos="6450965" algn="l"/>
                <a:tab pos="699071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production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system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is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version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of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system </a:t>
            </a:r>
            <a:r>
              <a:rPr dirty="0" sz="2600">
                <a:latin typeface="Times New Roman"/>
                <a:cs typeface="Times New Roman"/>
              </a:rPr>
              <a:t>used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day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</a:t>
            </a:r>
            <a:r>
              <a:rPr dirty="0" sz="2600" spc="-20">
                <a:latin typeface="Times New Roman"/>
                <a:cs typeface="Times New Roman"/>
              </a:rPr>
              <a:t>day.</a:t>
            </a:r>
            <a:endParaRPr sz="2600">
              <a:latin typeface="Times New Roman"/>
              <a:cs typeface="Times New Roman"/>
            </a:endParaRPr>
          </a:p>
          <a:p>
            <a:pPr lvl="1" marL="756285" marR="5080" indent="-288290">
              <a:lnSpc>
                <a:spcPct val="100000"/>
              </a:lnSpc>
              <a:spcBef>
                <a:spcPts val="62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1407160" algn="l"/>
                <a:tab pos="1993900" algn="l"/>
                <a:tab pos="3097530" algn="l"/>
                <a:tab pos="3446779" algn="l"/>
                <a:tab pos="3722370" algn="l"/>
                <a:tab pos="4493895" algn="l"/>
                <a:tab pos="4899025" algn="l"/>
                <a:tab pos="5431155" algn="l"/>
                <a:tab pos="6991984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test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version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is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50">
                <a:latin typeface="Times New Roman"/>
                <a:cs typeface="Times New Roman"/>
              </a:rPr>
              <a:t>a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copy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of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production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system </a:t>
            </a:r>
            <a:r>
              <a:rPr dirty="0" sz="2600">
                <a:latin typeface="Times New Roman"/>
                <a:cs typeface="Times New Roman"/>
              </a:rPr>
              <a:t>that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modified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changes.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854" y="325882"/>
            <a:ext cx="5447030" cy="1367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dirty="0"/>
              <a:t>Upgrading</a:t>
            </a:r>
            <a:r>
              <a:rPr dirty="0" spc="-20"/>
              <a:t> </a:t>
            </a:r>
            <a:r>
              <a:rPr dirty="0" spc="-10"/>
              <a:t>Computing Infrastructure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621662"/>
            <a:ext cx="7614284" cy="4658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Computer</a:t>
            </a:r>
            <a:r>
              <a:rPr dirty="0" sz="2800" spc="325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hardware,</a:t>
            </a:r>
            <a:r>
              <a:rPr dirty="0" sz="2800" spc="330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320">
                <a:latin typeface="Times New Roman"/>
                <a:cs typeface="Times New Roman"/>
              </a:rPr>
              <a:t>   </a:t>
            </a:r>
            <a:r>
              <a:rPr dirty="0" sz="2800">
                <a:latin typeface="Times New Roman"/>
                <a:cs typeface="Times New Roman"/>
              </a:rPr>
              <a:t>software,</a:t>
            </a:r>
            <a:r>
              <a:rPr dirty="0" sz="2800" spc="335">
                <a:latin typeface="Times New Roman"/>
                <a:cs typeface="Times New Roman"/>
              </a:rPr>
              <a:t>  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networks</a:t>
            </a:r>
            <a:r>
              <a:rPr dirty="0" sz="2800" spc="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must  be  periodically</a:t>
            </a:r>
            <a:r>
              <a:rPr dirty="0" sz="2800" spc="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upgraded</a:t>
            </a:r>
            <a:r>
              <a:rPr dirty="0" sz="2800" spc="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due  </a:t>
            </a:r>
            <a:r>
              <a:rPr dirty="0" sz="2800" spc="-2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following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reason: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maintenance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releases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version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upgrades</a:t>
            </a:r>
            <a:endParaRPr sz="26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2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Declining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performance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Best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practice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upgrades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If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operational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isn’t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broken,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don’t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fix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it!</a:t>
            </a:r>
            <a:endParaRPr sz="2600">
              <a:latin typeface="Times New Roman"/>
              <a:cs typeface="Times New Roman"/>
            </a:endParaRPr>
          </a:p>
          <a:p>
            <a:pPr marL="355600" marR="6985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390140" algn="l"/>
                <a:tab pos="3894454" algn="l"/>
                <a:tab pos="5121910" algn="l"/>
                <a:tab pos="6614159" algn="l"/>
              </a:tabLst>
            </a:pPr>
            <a:r>
              <a:rPr dirty="0" sz="2800" spc="-10">
                <a:latin typeface="Times New Roman"/>
                <a:cs typeface="Times New Roman"/>
              </a:rPr>
              <a:t>Performance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upgrades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require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research,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careful </a:t>
            </a:r>
            <a:r>
              <a:rPr dirty="0" sz="2800">
                <a:latin typeface="Times New Roman"/>
                <a:cs typeface="Times New Roman"/>
              </a:rPr>
              <a:t>diagnosis,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technical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expertise.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4294" y="813257"/>
            <a:ext cx="2916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789181"/>
            <a:ext cx="7366000" cy="427926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7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Activities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make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new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operational.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Involves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many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conflicting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constraints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57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Costs</a:t>
            </a:r>
            <a:endParaRPr sz="26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156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Need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main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positive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customer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relations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56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Need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support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employees</a:t>
            </a:r>
            <a:endParaRPr sz="26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156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Logistical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complexity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56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Overall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risk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organization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70" y="228600"/>
            <a:ext cx="8678329" cy="59436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85229" y="4072890"/>
            <a:ext cx="2192020" cy="96393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59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13 </a:t>
            </a:r>
            <a:r>
              <a:rPr dirty="0" sz="2200" spc="-10">
                <a:latin typeface="Times New Roman"/>
                <a:cs typeface="Times New Roman"/>
              </a:rPr>
              <a:t>Deployment </a:t>
            </a:r>
            <a:r>
              <a:rPr dirty="0" sz="2200">
                <a:latin typeface="Times New Roman"/>
                <a:cs typeface="Times New Roman"/>
              </a:rPr>
              <a:t>discipline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activities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31595" marR="5080" indent="-878205">
              <a:lnSpc>
                <a:spcPct val="100000"/>
              </a:lnSpc>
              <a:spcBef>
                <a:spcPts val="105"/>
              </a:spcBef>
            </a:pPr>
            <a:r>
              <a:rPr dirty="0"/>
              <a:t>Acquiring</a:t>
            </a:r>
            <a:r>
              <a:rPr dirty="0" spc="-65"/>
              <a:t> </a:t>
            </a:r>
            <a:r>
              <a:rPr dirty="0"/>
              <a:t>Hardware</a:t>
            </a:r>
            <a:r>
              <a:rPr dirty="0" spc="-60"/>
              <a:t> </a:t>
            </a:r>
            <a:r>
              <a:rPr dirty="0" spc="-25"/>
              <a:t>and </a:t>
            </a:r>
            <a:r>
              <a:rPr dirty="0"/>
              <a:t>System</a:t>
            </a:r>
            <a:r>
              <a:rPr dirty="0" spc="-20"/>
              <a:t> </a:t>
            </a:r>
            <a:r>
              <a:rPr dirty="0" spc="-10"/>
              <a:t>Hardware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140" y="2002662"/>
            <a:ext cx="761619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292985" algn="l"/>
                <a:tab pos="3778885" algn="l"/>
                <a:tab pos="4730115" algn="l"/>
                <a:tab pos="5661025" algn="l"/>
                <a:tab pos="6078855" algn="l"/>
              </a:tabLst>
            </a:pPr>
            <a:r>
              <a:rPr dirty="0" sz="2800" spc="-10">
                <a:latin typeface="Times New Roman"/>
                <a:cs typeface="Times New Roman"/>
              </a:rPr>
              <a:t>Application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software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must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have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supporting </a:t>
            </a:r>
            <a:r>
              <a:rPr dirty="0" sz="2800">
                <a:latin typeface="Times New Roman"/>
                <a:cs typeface="Times New Roman"/>
              </a:rPr>
              <a:t>infrastructure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(which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already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place).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2140" y="2941700"/>
            <a:ext cx="5427980" cy="3257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286635" algn="l"/>
                <a:tab pos="2856865" algn="l"/>
                <a:tab pos="3464560" algn="l"/>
                <a:tab pos="4822825" algn="l"/>
              </a:tabLst>
            </a:pPr>
            <a:r>
              <a:rPr dirty="0" sz="2800" spc="-10">
                <a:latin typeface="Times New Roman"/>
                <a:cs typeface="Times New Roman"/>
              </a:rPr>
              <a:t>Acquisition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entirely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new </a:t>
            </a:r>
            <a:r>
              <a:rPr dirty="0" sz="2800">
                <a:latin typeface="Times New Roman"/>
                <a:cs typeface="Times New Roman"/>
              </a:rPr>
              <a:t>includes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following: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 spc="-10">
                <a:latin typeface="Times New Roman"/>
                <a:cs typeface="Times New Roman"/>
              </a:rPr>
              <a:t>Planning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Developing 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request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10">
                <a:latin typeface="Times New Roman"/>
                <a:cs typeface="Times New Roman"/>
              </a:rPr>
              <a:t> proposal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Evaluating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results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Choosing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more</a:t>
            </a:r>
            <a:r>
              <a:rPr dirty="0" sz="2600" spc="-10">
                <a:latin typeface="Times New Roman"/>
                <a:cs typeface="Times New Roman"/>
              </a:rPr>
              <a:t> vendors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Installation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configuration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86880" y="2941700"/>
            <a:ext cx="19411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9630"/>
            <a:ext cx="8590714" cy="593101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07340" y="261315"/>
            <a:ext cx="1722755" cy="150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14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530"/>
              </a:spcBef>
            </a:pPr>
            <a:r>
              <a:rPr dirty="0" sz="2200" spc="-10">
                <a:latin typeface="Times New Roman"/>
                <a:cs typeface="Times New Roman"/>
              </a:rPr>
              <a:t>Infrastructure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clients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60">
                <a:latin typeface="Times New Roman"/>
                <a:cs typeface="Times New Roman"/>
              </a:rPr>
              <a:t>a </a:t>
            </a:r>
            <a:r>
              <a:rPr dirty="0" sz="2200">
                <a:latin typeface="Times New Roman"/>
                <a:cs typeface="Times New Roman"/>
              </a:rPr>
              <a:t>typical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.NET </a:t>
            </a:r>
            <a:r>
              <a:rPr dirty="0" sz="2200" spc="-10">
                <a:latin typeface="Times New Roman"/>
                <a:cs typeface="Times New Roman"/>
              </a:rPr>
              <a:t>application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064" y="0"/>
            <a:ext cx="1011935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969135" marR="5080" indent="-1460500">
              <a:lnSpc>
                <a:spcPct val="100000"/>
              </a:lnSpc>
              <a:spcBef>
                <a:spcPts val="105"/>
              </a:spcBef>
            </a:pPr>
            <a:r>
              <a:rPr dirty="0"/>
              <a:t>Packaging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Installing 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853563"/>
            <a:ext cx="7614920" cy="421195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Components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must</a:t>
            </a:r>
            <a:r>
              <a:rPr dirty="0" sz="2800" spc="-25">
                <a:latin typeface="Times New Roman"/>
                <a:cs typeface="Times New Roman"/>
              </a:rPr>
              <a:t> be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110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Installed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host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server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09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Added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a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component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registry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109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Assigned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more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network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addresses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11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156970" algn="l"/>
                <a:tab pos="2353945" algn="l"/>
                <a:tab pos="3281679" algn="l"/>
                <a:tab pos="4046854" algn="l"/>
                <a:tab pos="4475480" algn="l"/>
                <a:tab pos="5316855" algn="l"/>
                <a:tab pos="7087870" algn="l"/>
              </a:tabLst>
            </a:pPr>
            <a:r>
              <a:rPr dirty="0" sz="2800" spc="-25">
                <a:latin typeface="Times New Roman"/>
                <a:cs typeface="Times New Roman"/>
              </a:rPr>
              <a:t>May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include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XML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files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to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store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registration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access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118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149475" algn="l"/>
                <a:tab pos="2816860" algn="l"/>
                <a:tab pos="4155440" algn="l"/>
                <a:tab pos="4842510" algn="l"/>
                <a:tab pos="5886450" algn="l"/>
              </a:tabLst>
            </a:pPr>
            <a:r>
              <a:rPr dirty="0" sz="2800" spc="-10">
                <a:latin typeface="Times New Roman"/>
                <a:cs typeface="Times New Roman"/>
              </a:rPr>
              <a:t>Developers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package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install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components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development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tools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utilities.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1856" y="5686145"/>
            <a:ext cx="657796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5242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15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Automated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component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deployment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Oracle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Developer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42900" y="0"/>
            <a:ext cx="8801100" cy="5638800"/>
            <a:chOff x="342900" y="0"/>
            <a:chExt cx="8801100" cy="5638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" y="385707"/>
              <a:ext cx="8382000" cy="52530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5110" y="813257"/>
            <a:ext cx="3573779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Training</a:t>
            </a:r>
            <a:r>
              <a:rPr dirty="0" spc="-265"/>
              <a:t> </a:t>
            </a:r>
            <a:r>
              <a:rPr dirty="0" spc="-10"/>
              <a:t>Users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461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/>
              <a:t>End</a:t>
            </a:r>
            <a:r>
              <a:rPr dirty="0" spc="-45"/>
              <a:t> </a:t>
            </a:r>
            <a:r>
              <a:rPr dirty="0"/>
              <a:t>users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system</a:t>
            </a:r>
            <a:r>
              <a:rPr dirty="0" spc="-65"/>
              <a:t> </a:t>
            </a:r>
            <a:r>
              <a:rPr dirty="0"/>
              <a:t>operators</a:t>
            </a:r>
            <a:r>
              <a:rPr dirty="0" spc="-40"/>
              <a:t> </a:t>
            </a:r>
            <a:r>
              <a:rPr dirty="0"/>
              <a:t>need</a:t>
            </a:r>
            <a:r>
              <a:rPr dirty="0" spc="-50"/>
              <a:t> </a:t>
            </a:r>
            <a:r>
              <a:rPr dirty="0" spc="-10"/>
              <a:t>training.</a:t>
            </a: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/>
              <a:t>End</a:t>
            </a:r>
            <a:r>
              <a:rPr dirty="0" spc="-30"/>
              <a:t> </a:t>
            </a:r>
            <a:r>
              <a:rPr dirty="0"/>
              <a:t>user</a:t>
            </a:r>
            <a:r>
              <a:rPr dirty="0" spc="-25"/>
              <a:t> </a:t>
            </a:r>
            <a:r>
              <a:rPr dirty="0" spc="-10"/>
              <a:t>training</a:t>
            </a: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Hands-on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training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tutorials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Group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tutorials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/>
              <a:t>System</a:t>
            </a:r>
            <a:r>
              <a:rPr dirty="0" spc="-55"/>
              <a:t> </a:t>
            </a:r>
            <a:r>
              <a:rPr dirty="0"/>
              <a:t>operator</a:t>
            </a:r>
            <a:r>
              <a:rPr dirty="0" spc="-45"/>
              <a:t> </a:t>
            </a:r>
            <a:r>
              <a:rPr dirty="0" spc="-10"/>
              <a:t>training</a:t>
            </a: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Less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formal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 spc="-10">
                <a:latin typeface="Times New Roman"/>
                <a:cs typeface="Times New Roman"/>
              </a:rPr>
              <a:t>Self-</a:t>
            </a:r>
            <a:r>
              <a:rPr dirty="0" sz="2600" spc="-20">
                <a:latin typeface="Times New Roman"/>
                <a:cs typeface="Times New Roman"/>
              </a:rPr>
              <a:t>study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730375" algn="l"/>
                <a:tab pos="3195320" algn="l"/>
                <a:tab pos="3790950" algn="l"/>
                <a:tab pos="5415915" algn="l"/>
                <a:tab pos="5874385" algn="l"/>
                <a:tab pos="6710045" algn="l"/>
                <a:tab pos="7168515" algn="l"/>
              </a:tabLst>
            </a:pPr>
            <a:r>
              <a:rPr dirty="0" spc="-10"/>
              <a:t>Training</a:t>
            </a:r>
            <a:r>
              <a:rPr dirty="0"/>
              <a:t>	</a:t>
            </a:r>
            <a:r>
              <a:rPr dirty="0" spc="-10"/>
              <a:t>materials</a:t>
            </a:r>
            <a:r>
              <a:rPr dirty="0"/>
              <a:t>	</a:t>
            </a:r>
            <a:r>
              <a:rPr dirty="0" spc="-25"/>
              <a:t>are</a:t>
            </a:r>
            <a:r>
              <a:rPr dirty="0"/>
              <a:t>	</a:t>
            </a:r>
            <a:r>
              <a:rPr dirty="0" spc="-10"/>
              <a:t>developed</a:t>
            </a:r>
            <a:r>
              <a:rPr dirty="0"/>
              <a:t>	</a:t>
            </a:r>
            <a:r>
              <a:rPr dirty="0" spc="-25"/>
              <a:t>as</a:t>
            </a:r>
            <a:r>
              <a:rPr dirty="0"/>
              <a:t>	</a:t>
            </a:r>
            <a:r>
              <a:rPr dirty="0" spc="-20"/>
              <a:t>soon</a:t>
            </a:r>
            <a:r>
              <a:rPr dirty="0"/>
              <a:t>	</a:t>
            </a:r>
            <a:r>
              <a:rPr dirty="0" spc="-25"/>
              <a:t>as</a:t>
            </a:r>
            <a:r>
              <a:rPr dirty="0"/>
              <a:t>	</a:t>
            </a:r>
            <a:r>
              <a:rPr dirty="0" spc="-25"/>
              <a:t>the </a:t>
            </a:r>
            <a:r>
              <a:rPr dirty="0"/>
              <a:t>interfaces</a:t>
            </a:r>
            <a:r>
              <a:rPr dirty="0" spc="-35"/>
              <a:t> </a:t>
            </a:r>
            <a:r>
              <a:rPr dirty="0"/>
              <a:t>are</a:t>
            </a:r>
            <a:r>
              <a:rPr dirty="0" spc="-40"/>
              <a:t> </a:t>
            </a:r>
            <a:r>
              <a:rPr dirty="0"/>
              <a:t>reasonably</a:t>
            </a:r>
            <a:r>
              <a:rPr dirty="0" spc="-35"/>
              <a:t> </a:t>
            </a:r>
            <a:r>
              <a:rPr dirty="0" spc="-10"/>
              <a:t>stable.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41094" y="4909565"/>
            <a:ext cx="5781040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5369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16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2200" spc="-20">
                <a:latin typeface="Times New Roman"/>
                <a:cs typeface="Times New Roman"/>
              </a:rPr>
              <a:t>Typical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activities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operators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610600" cy="3200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901950" marR="5080" indent="-2672080">
              <a:lnSpc>
                <a:spcPct val="100000"/>
              </a:lnSpc>
              <a:spcBef>
                <a:spcPts val="105"/>
              </a:spcBef>
            </a:pPr>
            <a:r>
              <a:rPr dirty="0"/>
              <a:t>Converting</a:t>
            </a:r>
            <a:r>
              <a:rPr dirty="0" spc="-20"/>
              <a:t> </a:t>
            </a:r>
            <a:r>
              <a:rPr dirty="0"/>
              <a:t>and </a:t>
            </a:r>
            <a:r>
              <a:rPr dirty="0" spc="-10"/>
              <a:t>Initializing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02662"/>
            <a:ext cx="7615555" cy="41167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6985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212215" algn="l"/>
                <a:tab pos="2405380" algn="l"/>
                <a:tab pos="2849245" algn="l"/>
                <a:tab pos="4019550" algn="l"/>
                <a:tab pos="5176520" algn="l"/>
                <a:tab pos="5855970" algn="l"/>
                <a:tab pos="6377940" algn="l"/>
              </a:tabLst>
            </a:pPr>
            <a:r>
              <a:rPr dirty="0" sz="2800" spc="-20">
                <a:latin typeface="Times New Roman"/>
                <a:cs typeface="Times New Roman"/>
              </a:rPr>
              <a:t>Data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needed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system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startup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be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obtained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following: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Files 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databases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being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replaced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Manual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records</a:t>
            </a:r>
            <a:endParaRPr sz="2600">
              <a:latin typeface="Times New Roman"/>
              <a:cs typeface="Times New Roman"/>
            </a:endParaRPr>
          </a:p>
          <a:p>
            <a:pPr lvl="1" marL="756285" marR="5080" indent="-288925">
              <a:lnSpc>
                <a:spcPct val="100000"/>
              </a:lnSpc>
              <a:spcBef>
                <a:spcPts val="620"/>
              </a:spcBef>
              <a:buSzPct val="96153"/>
              <a:buFont typeface="Wingdings"/>
              <a:buChar char=""/>
              <a:tabLst>
                <a:tab pos="756285" algn="l"/>
                <a:tab pos="762635" algn="l"/>
                <a:tab pos="1690370" algn="l"/>
                <a:tab pos="2251710" algn="l"/>
                <a:tab pos="3799840" algn="l"/>
                <a:tab pos="4361180" algn="l"/>
                <a:tab pos="5322570" algn="l"/>
                <a:tab pos="6653530" algn="l"/>
                <a:tab pos="719772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Files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or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databases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of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other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systems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in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 spc="-10">
                <a:latin typeface="Times New Roman"/>
                <a:cs typeface="Times New Roman"/>
              </a:rPr>
              <a:t>organizations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User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feedback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during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normal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operation</a:t>
            </a:r>
            <a:endParaRPr sz="26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750060" algn="l"/>
                <a:tab pos="3319779" algn="l"/>
                <a:tab pos="3963035" algn="l"/>
                <a:tab pos="5693410" algn="l"/>
                <a:tab pos="7186930" algn="l"/>
              </a:tabLst>
            </a:pPr>
            <a:r>
              <a:rPr dirty="0" sz="2800" spc="-10">
                <a:latin typeface="Times New Roman"/>
                <a:cs typeface="Times New Roman"/>
              </a:rPr>
              <a:t>Existing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databases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are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commonly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modified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for </a:t>
            </a:r>
            <a:r>
              <a:rPr dirty="0" sz="2800">
                <a:latin typeface="Times New Roman"/>
                <a:cs typeface="Times New Roman"/>
              </a:rPr>
              <a:t>reuse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new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upgraded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1091565">
              <a:lnSpc>
                <a:spcPct val="100000"/>
              </a:lnSpc>
              <a:spcBef>
                <a:spcPts val="105"/>
              </a:spcBef>
            </a:pPr>
            <a:r>
              <a:rPr dirty="0"/>
              <a:t>Reloading</a:t>
            </a:r>
            <a:r>
              <a:rPr dirty="0" spc="-25"/>
              <a:t> </a:t>
            </a:r>
            <a:r>
              <a:rPr dirty="0" spc="-10"/>
              <a:t>Database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140" y="1850262"/>
            <a:ext cx="7997825" cy="4337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635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Complex</a:t>
            </a:r>
            <a:r>
              <a:rPr dirty="0" sz="2800" spc="55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changes</a:t>
            </a:r>
            <a:r>
              <a:rPr dirty="0" sz="2800" spc="54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55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54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database</a:t>
            </a:r>
            <a:r>
              <a:rPr dirty="0" sz="2800" spc="54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550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require </a:t>
            </a:r>
            <a:r>
              <a:rPr dirty="0" sz="2800">
                <a:latin typeface="Times New Roman"/>
                <a:cs typeface="Times New Roman"/>
              </a:rPr>
              <a:t>reloading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after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change.</a:t>
            </a:r>
            <a:endParaRPr sz="2800">
              <a:latin typeface="Times New Roman"/>
              <a:cs typeface="Times New Roman"/>
            </a:endParaRPr>
          </a:p>
          <a:p>
            <a:pPr algn="just" marL="35560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40">
                <a:latin typeface="Times New Roman"/>
                <a:cs typeface="Times New Roman"/>
              </a:rPr>
              <a:t>Two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approaches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reloading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database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080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Initialize</a:t>
            </a:r>
            <a:r>
              <a:rPr dirty="0" sz="2600" spc="1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1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new</a:t>
            </a:r>
            <a:r>
              <a:rPr dirty="0" sz="2600" spc="1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database</a:t>
            </a:r>
            <a:r>
              <a:rPr dirty="0" sz="2600" spc="1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1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copy</a:t>
            </a:r>
            <a:r>
              <a:rPr dirty="0" sz="2600" spc="1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1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contents</a:t>
            </a:r>
            <a:r>
              <a:rPr dirty="0" sz="2600" spc="1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14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old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database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it.</a:t>
            </a:r>
            <a:endParaRPr sz="2600">
              <a:latin typeface="Times New Roman"/>
              <a:cs typeface="Times New Roman"/>
            </a:endParaRPr>
          </a:p>
          <a:p>
            <a:pPr algn="just" lvl="1" marL="756285" marR="5715" indent="-288290">
              <a:lnSpc>
                <a:spcPct val="100000"/>
              </a:lnSpc>
              <a:spcBef>
                <a:spcPts val="62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Use</a:t>
            </a:r>
            <a:r>
              <a:rPr dirty="0" sz="2600" spc="2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2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program</a:t>
            </a:r>
            <a:r>
              <a:rPr dirty="0" sz="2600" spc="2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2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DBMS</a:t>
            </a:r>
            <a:r>
              <a:rPr dirty="0" sz="2600" spc="2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utility</a:t>
            </a:r>
            <a:r>
              <a:rPr dirty="0" sz="2600" spc="2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229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extract</a:t>
            </a:r>
            <a:r>
              <a:rPr dirty="0" sz="2600" spc="2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2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delete </a:t>
            </a:r>
            <a:r>
              <a:rPr dirty="0" sz="2600">
                <a:latin typeface="Times New Roman"/>
                <a:cs typeface="Times New Roman"/>
              </a:rPr>
              <a:t>data</a:t>
            </a:r>
            <a:r>
              <a:rPr dirty="0" sz="2600" spc="14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13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1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existing</a:t>
            </a:r>
            <a:r>
              <a:rPr dirty="0" sz="2600" spc="1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database</a:t>
            </a:r>
            <a:r>
              <a:rPr dirty="0" sz="2600" spc="14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1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store</a:t>
            </a:r>
            <a:r>
              <a:rPr dirty="0" sz="2600" spc="14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it</a:t>
            </a:r>
            <a:r>
              <a:rPr dirty="0" sz="2600" spc="1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150">
                <a:latin typeface="Times New Roman"/>
                <a:cs typeface="Times New Roman"/>
              </a:rPr>
              <a:t>  </a:t>
            </a:r>
            <a:r>
              <a:rPr dirty="0" sz="2600" spc="-50">
                <a:latin typeface="Times New Roman"/>
                <a:cs typeface="Times New Roman"/>
              </a:rPr>
              <a:t>a </a:t>
            </a:r>
            <a:r>
              <a:rPr dirty="0" sz="2600">
                <a:latin typeface="Times New Roman"/>
                <a:cs typeface="Times New Roman"/>
              </a:rPr>
              <a:t>temporary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store.</a:t>
            </a:r>
            <a:endParaRPr sz="2600">
              <a:latin typeface="Times New Roman"/>
              <a:cs typeface="Times New Roman"/>
            </a:endParaRPr>
          </a:p>
          <a:p>
            <a:pPr algn="just" marL="1155700" marR="6350" indent="-228600">
              <a:lnSpc>
                <a:spcPct val="100000"/>
              </a:lnSpc>
              <a:spcBef>
                <a:spcPts val="590"/>
              </a:spcBef>
            </a:pPr>
            <a:r>
              <a:rPr dirty="0" sz="2400" spc="-15">
                <a:solidFill>
                  <a:srgbClr val="99CCFF"/>
                </a:solidFill>
                <a:latin typeface="Times New Roman"/>
                <a:cs typeface="Times New Roman"/>
              </a:rPr>
              <a:t>□</a:t>
            </a:r>
            <a:r>
              <a:rPr dirty="0" sz="2400" spc="-250">
                <a:solidFill>
                  <a:srgbClr val="99CCFF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latin typeface="Times New Roman"/>
                <a:cs typeface="Times New Roman"/>
              </a:rPr>
              <a:t>Many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DBMSs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</a:t>
            </a:r>
            <a:r>
              <a:rPr dirty="0" sz="2400" spc="5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de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por</a:t>
            </a:r>
            <a:r>
              <a:rPr dirty="0" sz="2400" spc="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/expo</a:t>
            </a:r>
            <a:r>
              <a:rPr dirty="0" sz="2400" spc="-15">
                <a:latin typeface="Times New Roman"/>
                <a:cs typeface="Times New Roman"/>
              </a:rPr>
              <a:t>r</a:t>
            </a: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utilities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extr</a:t>
            </a:r>
            <a:r>
              <a:rPr dirty="0" sz="2400" spc="-1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ct and load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</a:t>
            </a:r>
            <a:r>
              <a:rPr dirty="0" sz="2400" spc="1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19045" y="5137861"/>
            <a:ext cx="5176520" cy="10331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5306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17</a:t>
            </a:r>
            <a:endParaRPr sz="22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  <a:spcBef>
                <a:spcPts val="15"/>
              </a:spcBef>
            </a:pPr>
            <a:r>
              <a:rPr dirty="0" sz="2200" spc="-35">
                <a:latin typeface="Times New Roman"/>
                <a:cs typeface="Times New Roman"/>
              </a:rPr>
              <a:t>Two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approaches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reloading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content </a:t>
            </a:r>
            <a:r>
              <a:rPr dirty="0" sz="2200">
                <a:latin typeface="Times New Roman"/>
                <a:cs typeface="Times New Roman"/>
              </a:rPr>
              <a:t>after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modification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57200"/>
            <a:ext cx="6051804" cy="4786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2570" y="5367020"/>
            <a:ext cx="4110990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490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18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complex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data-</a:t>
            </a:r>
            <a:r>
              <a:rPr dirty="0" sz="2200">
                <a:latin typeface="Times New Roman"/>
                <a:cs typeface="Times New Roman"/>
              </a:rPr>
              <a:t>conversion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example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19200" y="0"/>
            <a:ext cx="7924800" cy="5404485"/>
            <a:chOff x="1219200" y="0"/>
            <a:chExt cx="7924800" cy="5404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04800"/>
              <a:ext cx="7086600" cy="5099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16835" marR="5080" indent="-2016760">
              <a:lnSpc>
                <a:spcPct val="100000"/>
              </a:lnSpc>
              <a:spcBef>
                <a:spcPts val="105"/>
              </a:spcBef>
            </a:pPr>
            <a:r>
              <a:rPr dirty="0"/>
              <a:t>Planning and </a:t>
            </a:r>
            <a:r>
              <a:rPr dirty="0" spc="-10"/>
              <a:t>Managing 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2002662"/>
            <a:ext cx="8074025" cy="3020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Testing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activities</a:t>
            </a:r>
            <a:r>
              <a:rPr dirty="0" sz="2800" spc="3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must</a:t>
            </a:r>
            <a:r>
              <a:rPr dirty="0" sz="2800" spc="3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distributed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throughout</a:t>
            </a:r>
            <a:r>
              <a:rPr dirty="0" sz="2800" spc="33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00" spc="-10">
                <a:latin typeface="Times New Roman"/>
                <a:cs typeface="Times New Roman"/>
              </a:rPr>
              <a:t>project.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080" indent="-288290">
              <a:lnSpc>
                <a:spcPct val="100000"/>
              </a:lnSpc>
              <a:spcBef>
                <a:spcPts val="63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Unit</a:t>
            </a:r>
            <a:r>
              <a:rPr dirty="0" sz="2600" spc="3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3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integration</a:t>
            </a:r>
            <a:r>
              <a:rPr dirty="0" sz="2600" spc="3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testing</a:t>
            </a:r>
            <a:r>
              <a:rPr dirty="0" sz="2600" spc="3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occur</a:t>
            </a:r>
            <a:r>
              <a:rPr dirty="0" sz="2600" spc="3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whenever</a:t>
            </a:r>
            <a:r>
              <a:rPr dirty="0" sz="2600" spc="3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software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37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developed,</a:t>
            </a:r>
            <a:r>
              <a:rPr dirty="0" sz="2600" spc="3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acquired,</a:t>
            </a:r>
            <a:r>
              <a:rPr dirty="0" sz="2600" spc="37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37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combined</a:t>
            </a:r>
            <a:r>
              <a:rPr dirty="0" sz="2600" spc="37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375">
                <a:latin typeface="Times New Roman"/>
                <a:cs typeface="Times New Roman"/>
              </a:rPr>
              <a:t>  </a:t>
            </a:r>
            <a:r>
              <a:rPr dirty="0" sz="2600" spc="-10">
                <a:latin typeface="Times New Roman"/>
                <a:cs typeface="Times New Roman"/>
              </a:rPr>
              <a:t>other software.</a:t>
            </a:r>
            <a:endParaRPr sz="2600">
              <a:latin typeface="Times New Roman"/>
              <a:cs typeface="Times New Roman"/>
            </a:endParaRPr>
          </a:p>
          <a:p>
            <a:pPr algn="just" lvl="1" marL="756285" marR="5715" indent="-288290">
              <a:lnSpc>
                <a:spcPct val="100000"/>
              </a:lnSpc>
              <a:spcBef>
                <a:spcPts val="62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Usability</a:t>
            </a:r>
            <a:r>
              <a:rPr dirty="0" sz="2600" spc="16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testing</a:t>
            </a:r>
            <a:r>
              <a:rPr dirty="0" sz="2600" spc="1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occurs</a:t>
            </a:r>
            <a:r>
              <a:rPr dirty="0" sz="2600" spc="16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whenever</a:t>
            </a:r>
            <a:r>
              <a:rPr dirty="0" sz="2600" spc="17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requirements</a:t>
            </a:r>
            <a:r>
              <a:rPr dirty="0" sz="2600" spc="165">
                <a:latin typeface="Times New Roman"/>
                <a:cs typeface="Times New Roman"/>
              </a:rPr>
              <a:t>  </a:t>
            </a:r>
            <a:r>
              <a:rPr dirty="0" sz="2600" spc="-25">
                <a:latin typeface="Times New Roman"/>
                <a:cs typeface="Times New Roman"/>
              </a:rPr>
              <a:t>or </a:t>
            </a:r>
            <a:r>
              <a:rPr dirty="0" sz="2600">
                <a:latin typeface="Times New Roman"/>
                <a:cs typeface="Times New Roman"/>
              </a:rPr>
              <a:t>design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decisions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need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be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evaluated.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79905" y="5472176"/>
            <a:ext cx="643890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0060" algn="l"/>
                <a:tab pos="2442210" algn="l"/>
                <a:tab pos="3258820" algn="l"/>
                <a:tab pos="5478145" algn="l"/>
              </a:tabLst>
            </a:pPr>
            <a:r>
              <a:rPr dirty="0" sz="2600" spc="-10">
                <a:latin typeface="Times New Roman"/>
                <a:cs typeface="Times New Roman"/>
              </a:rPr>
              <a:t>validation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of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requirements,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design,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3444" y="5075377"/>
            <a:ext cx="761619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293370" marR="5715" indent="-293370">
              <a:lnSpc>
                <a:spcPct val="100000"/>
              </a:lnSpc>
              <a:spcBef>
                <a:spcPts val="105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293370" algn="l"/>
                <a:tab pos="1182370" algn="l"/>
                <a:tab pos="2894330" algn="l"/>
                <a:tab pos="3742690" algn="l"/>
                <a:tab pos="4410710" algn="l"/>
                <a:tab pos="6034405" algn="l"/>
                <a:tab pos="6572250" algn="l"/>
                <a:tab pos="6983730" algn="l"/>
              </a:tabLst>
            </a:pPr>
            <a:r>
              <a:rPr dirty="0" sz="2600" spc="-20">
                <a:latin typeface="Times New Roman"/>
                <a:cs typeface="Times New Roman"/>
              </a:rPr>
              <a:t>User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acceptance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tests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are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conducted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50">
                <a:latin typeface="Times New Roman"/>
                <a:cs typeface="Times New Roman"/>
              </a:rPr>
              <a:t>a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final</a:t>
            </a:r>
            <a:endParaRPr sz="26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600" spc="-25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79905" y="5868415"/>
            <a:ext cx="345567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implementation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activities.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6652" y="661162"/>
            <a:ext cx="478980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Development</a:t>
            </a:r>
            <a:r>
              <a:rPr dirty="0" spc="-40"/>
              <a:t> </a:t>
            </a:r>
            <a:r>
              <a:rPr dirty="0" spc="-10"/>
              <a:t>Order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383517"/>
            <a:ext cx="7617459" cy="48126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Input,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output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(IPO)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development</a:t>
            </a:r>
            <a:endParaRPr sz="2800">
              <a:latin typeface="Times New Roman"/>
              <a:cs typeface="Times New Roman"/>
            </a:endParaRPr>
          </a:p>
          <a:p>
            <a:pPr lvl="1" marL="756285" marR="5080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473960" algn="l"/>
                <a:tab pos="3306445" algn="l"/>
                <a:tab pos="4577715" algn="l"/>
                <a:tab pos="5342890" algn="l"/>
                <a:tab pos="648462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Implements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input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modules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first,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process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modules </a:t>
            </a:r>
            <a:r>
              <a:rPr dirty="0" sz="2600">
                <a:latin typeface="Times New Roman"/>
                <a:cs typeface="Times New Roman"/>
              </a:rPr>
              <a:t>next,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output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modules</a:t>
            </a:r>
            <a:r>
              <a:rPr dirty="0" sz="2600" spc="-10">
                <a:latin typeface="Times New Roman"/>
                <a:cs typeface="Times New Roman"/>
              </a:rPr>
              <a:t> last.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Important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interfaces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developed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early.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70">
                <a:latin typeface="Times New Roman"/>
                <a:cs typeface="Times New Roman"/>
              </a:rPr>
              <a:t>Top-</a:t>
            </a:r>
            <a:r>
              <a:rPr dirty="0" sz="2800" spc="-20">
                <a:latin typeface="Times New Roman"/>
                <a:cs typeface="Times New Roman"/>
              </a:rPr>
              <a:t>down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Implements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top-level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modules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first.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There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 always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working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version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program.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Bottom-</a:t>
            </a:r>
            <a:r>
              <a:rPr dirty="0" sz="2800" spc="-25">
                <a:latin typeface="Times New Roman"/>
                <a:cs typeface="Times New Roman"/>
              </a:rPr>
              <a:t>up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Implements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low-level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detailed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modules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first.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Programmers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put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work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immediately.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141" y="813257"/>
            <a:ext cx="61277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Framework</a:t>
            </a:r>
            <a:r>
              <a:rPr dirty="0" spc="-45"/>
              <a:t> </a:t>
            </a:r>
            <a:r>
              <a:rPr dirty="0" spc="-10"/>
              <a:t>Development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688317"/>
            <a:ext cx="7617459" cy="45205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7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Foundation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classes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080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Object</a:t>
            </a:r>
            <a:r>
              <a:rPr dirty="0" sz="2600" spc="5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framework</a:t>
            </a:r>
            <a:r>
              <a:rPr dirty="0" sz="2600" spc="5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that</a:t>
            </a:r>
            <a:r>
              <a:rPr dirty="0" sz="2600" spc="5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covers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most</a:t>
            </a:r>
            <a:r>
              <a:rPr dirty="0" sz="2600" spc="5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5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all</a:t>
            </a:r>
            <a:r>
              <a:rPr dirty="0" sz="2600" spc="5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54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domain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data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access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layer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classes.</a:t>
            </a:r>
            <a:endParaRPr sz="2600">
              <a:latin typeface="Times New Roman"/>
              <a:cs typeface="Times New Roman"/>
            </a:endParaRPr>
          </a:p>
          <a:p>
            <a:pPr algn="just" lvl="1" marL="756285" marR="5715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Reused</a:t>
            </a:r>
            <a:r>
              <a:rPr dirty="0" sz="2600" spc="5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many</a:t>
            </a:r>
            <a:r>
              <a:rPr dirty="0" sz="2600" spc="5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parts</a:t>
            </a:r>
            <a:r>
              <a:rPr dirty="0" sz="2600" spc="5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5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5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systems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across applications.</a:t>
            </a:r>
            <a:endParaRPr sz="2600">
              <a:latin typeface="Times New Roman"/>
              <a:cs typeface="Times New Roman"/>
            </a:endParaRPr>
          </a:p>
          <a:p>
            <a:pPr algn="just" marL="355600" marR="8255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Whenever</a:t>
            </a:r>
            <a:r>
              <a:rPr dirty="0" sz="2800" spc="4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possible,</a:t>
            </a:r>
            <a:r>
              <a:rPr dirty="0" sz="2800" spc="4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developers</a:t>
            </a:r>
            <a:r>
              <a:rPr dirty="0" sz="2800" spc="48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choose</a:t>
            </a:r>
            <a:r>
              <a:rPr dirty="0" sz="2800" spc="48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</a:t>
            </a:r>
            <a:r>
              <a:rPr dirty="0" sz="2800" spc="4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cases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4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early</a:t>
            </a:r>
            <a:r>
              <a:rPr dirty="0" sz="2800" spc="4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iterations</a:t>
            </a:r>
            <a:r>
              <a:rPr dirty="0" sz="2800" spc="43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4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rely</a:t>
            </a:r>
            <a:r>
              <a:rPr dirty="0" sz="2800" spc="43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4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many</a:t>
            </a:r>
            <a:r>
              <a:rPr dirty="0" sz="2800" spc="4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foundation classes.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8890" indent="-288290">
              <a:lnSpc>
                <a:spcPct val="100000"/>
              </a:lnSpc>
              <a:spcBef>
                <a:spcPts val="63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Testing</a:t>
            </a:r>
            <a:r>
              <a:rPr dirty="0" sz="2600" spc="3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early</a:t>
            </a:r>
            <a:r>
              <a:rPr dirty="0" sz="2600" spc="3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finds</a:t>
            </a:r>
            <a:r>
              <a:rPr dirty="0" sz="2600" spc="2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bugs</a:t>
            </a:r>
            <a:r>
              <a:rPr dirty="0" sz="2600" spc="3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before</a:t>
            </a:r>
            <a:r>
              <a:rPr dirty="0" sz="2600" spc="2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dependent</a:t>
            </a:r>
            <a:r>
              <a:rPr dirty="0" sz="2600" spc="2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code</a:t>
            </a:r>
            <a:r>
              <a:rPr dirty="0" sz="2600" spc="29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is </a:t>
            </a:r>
            <a:r>
              <a:rPr dirty="0" sz="2600" spc="-10">
                <a:latin typeface="Times New Roman"/>
                <a:cs typeface="Times New Roman"/>
              </a:rPr>
              <a:t>developed.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1074" y="5290820"/>
            <a:ext cx="625284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5369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21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comparison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summary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development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team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types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8610600" cy="3886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75560" marR="5080" indent="-2527300">
              <a:lnSpc>
                <a:spcPct val="100000"/>
              </a:lnSpc>
              <a:spcBef>
                <a:spcPts val="105"/>
              </a:spcBef>
            </a:pPr>
            <a:r>
              <a:rPr dirty="0"/>
              <a:t>Source</a:t>
            </a:r>
            <a:r>
              <a:rPr dirty="0" spc="-85"/>
              <a:t> </a:t>
            </a:r>
            <a:r>
              <a:rPr dirty="0"/>
              <a:t>Code</a:t>
            </a:r>
            <a:r>
              <a:rPr dirty="0" spc="-70"/>
              <a:t> </a:t>
            </a:r>
            <a:r>
              <a:rPr dirty="0"/>
              <a:t>Control</a:t>
            </a:r>
            <a:r>
              <a:rPr dirty="0" spc="-65"/>
              <a:t> </a:t>
            </a:r>
            <a:r>
              <a:rPr dirty="0" spc="-10"/>
              <a:t>System (SCCS)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02662"/>
            <a:ext cx="7614284" cy="4166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Automated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tool</a:t>
            </a:r>
            <a:r>
              <a:rPr dirty="0" sz="2800" spc="1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tracking</a:t>
            </a:r>
            <a:r>
              <a:rPr dirty="0" sz="2800" spc="1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source</a:t>
            </a:r>
            <a:r>
              <a:rPr dirty="0" sz="2800" spc="1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code</a:t>
            </a:r>
            <a:r>
              <a:rPr dirty="0" sz="2800" spc="1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files</a:t>
            </a:r>
            <a:r>
              <a:rPr dirty="0" sz="2800" spc="18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controlling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changes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those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files.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Stores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files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repository.</a:t>
            </a:r>
            <a:endParaRPr sz="2600">
              <a:latin typeface="Times New Roman"/>
              <a:cs typeface="Times New Roman"/>
            </a:endParaRPr>
          </a:p>
          <a:p>
            <a:pPr lvl="1" marL="756285" marR="5080" indent="-288290">
              <a:lnSpc>
                <a:spcPct val="100000"/>
              </a:lnSpc>
              <a:spcBef>
                <a:spcPts val="625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244090" algn="l"/>
                <a:tab pos="4164329" algn="l"/>
                <a:tab pos="5441950" algn="l"/>
                <a:tab pos="626364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Prevents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inconsistent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change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and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automates coordination.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Programmers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manipulate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files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three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modes.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Check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out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file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read-</a:t>
            </a:r>
            <a:r>
              <a:rPr dirty="0" sz="2600">
                <a:latin typeface="Times New Roman"/>
                <a:cs typeface="Times New Roman"/>
              </a:rPr>
              <a:t>only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Check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out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file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read/write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Check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modified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file.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69" y="5662371"/>
            <a:ext cx="609028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5496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22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Project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code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79119" y="0"/>
            <a:ext cx="8564880" cy="5629910"/>
            <a:chOff x="579119" y="0"/>
            <a:chExt cx="8564880" cy="5629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" y="874528"/>
              <a:ext cx="8077200" cy="47551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3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4294" y="813257"/>
            <a:ext cx="2916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612117"/>
            <a:ext cx="7614920" cy="45681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Considerations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when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planning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deployment</a:t>
            </a:r>
            <a:endParaRPr sz="2800">
              <a:latin typeface="Times New Roman"/>
              <a:cs typeface="Times New Roman"/>
            </a:endParaRPr>
          </a:p>
          <a:p>
            <a:pPr lvl="1" marL="756285" marR="6350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247265" algn="l"/>
                <a:tab pos="3162935" algn="l"/>
                <a:tab pos="3695065" algn="l"/>
                <a:tab pos="5198110" algn="l"/>
                <a:tab pos="6042025" algn="l"/>
                <a:tab pos="734377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Incurring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costs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of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operating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0">
                <a:latin typeface="Times New Roman"/>
                <a:cs typeface="Times New Roman"/>
              </a:rPr>
              <a:t>both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systems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in </a:t>
            </a:r>
            <a:r>
              <a:rPr dirty="0" sz="2600" spc="-10">
                <a:latin typeface="Times New Roman"/>
                <a:cs typeface="Times New Roman"/>
              </a:rPr>
              <a:t>parallel.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Detecting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correcting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errors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new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lvl="1" marL="756285" marR="5715" indent="-288290">
              <a:lnSpc>
                <a:spcPct val="100000"/>
              </a:lnSpc>
              <a:spcBef>
                <a:spcPts val="62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425700" algn="l"/>
                <a:tab pos="3995420" algn="l"/>
                <a:tab pos="4626610" algn="l"/>
                <a:tab pos="6064885" algn="l"/>
                <a:tab pos="6771005" algn="l"/>
                <a:tab pos="7310755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Potentially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disrupting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company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and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its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40">
                <a:latin typeface="Times New Roman"/>
                <a:cs typeface="Times New Roman"/>
              </a:rPr>
              <a:t>IS </a:t>
            </a:r>
            <a:r>
              <a:rPr dirty="0" sz="2600" spc="-10">
                <a:latin typeface="Times New Roman"/>
                <a:cs typeface="Times New Roman"/>
              </a:rPr>
              <a:t>operations.</a:t>
            </a:r>
            <a:endParaRPr sz="2600">
              <a:latin typeface="Times New Roman"/>
              <a:cs typeface="Times New Roman"/>
            </a:endParaRPr>
          </a:p>
          <a:p>
            <a:pPr lvl="1" marL="756285" marR="5080" indent="-288290">
              <a:lnSpc>
                <a:spcPct val="100000"/>
              </a:lnSpc>
              <a:spcBef>
                <a:spcPts val="63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  <a:tab pos="2117090" algn="l"/>
                <a:tab pos="3627754" algn="l"/>
                <a:tab pos="4331970" algn="l"/>
                <a:tab pos="626364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Training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personnel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and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familiarizing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customers </a:t>
            </a:r>
            <a:r>
              <a:rPr dirty="0" sz="2600">
                <a:latin typeface="Times New Roman"/>
                <a:cs typeface="Times New Roman"/>
              </a:rPr>
              <a:t>with new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procedures.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321435" algn="l"/>
                <a:tab pos="3257550" algn="l"/>
                <a:tab pos="4817110" algn="l"/>
                <a:tab pos="5548630" algn="l"/>
                <a:tab pos="7091045" algn="l"/>
              </a:tabLst>
            </a:pPr>
            <a:r>
              <a:rPr dirty="0" sz="2800" spc="-20">
                <a:latin typeface="Times New Roman"/>
                <a:cs typeface="Times New Roman"/>
              </a:rPr>
              <a:t>Each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deployment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approach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has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strengths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 spc="-10">
                <a:latin typeface="Times New Roman"/>
                <a:cs typeface="Times New Roman"/>
              </a:rPr>
              <a:t>weaknesses.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1222375">
              <a:lnSpc>
                <a:spcPct val="100000"/>
              </a:lnSpc>
              <a:spcBef>
                <a:spcPts val="105"/>
              </a:spcBef>
            </a:pPr>
            <a:r>
              <a:rPr dirty="0"/>
              <a:t>Direct</a:t>
            </a:r>
            <a:r>
              <a:rPr dirty="0" spc="-114"/>
              <a:t> </a:t>
            </a: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850262"/>
            <a:ext cx="19240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753235" algn="l"/>
              </a:tabLst>
            </a:pPr>
            <a:r>
              <a:rPr dirty="0" sz="2800" spc="-10">
                <a:latin typeface="Times New Roman"/>
                <a:cs typeface="Times New Roman"/>
              </a:rPr>
              <a:t>Installs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7744" y="2276982"/>
            <a:ext cx="171068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Times New Roman"/>
                <a:cs typeface="Times New Roman"/>
              </a:rPr>
              <a:t>operational,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32886" y="1850262"/>
            <a:ext cx="3767454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95"/>
              </a:spcBef>
              <a:tabLst>
                <a:tab pos="941705" algn="l"/>
                <a:tab pos="975360" algn="l"/>
                <a:tab pos="2420620" algn="l"/>
                <a:tab pos="3042285" algn="l"/>
              </a:tabLst>
            </a:pPr>
            <a:r>
              <a:rPr dirty="0" sz="2800" spc="-25">
                <a:latin typeface="Times New Roman"/>
                <a:cs typeface="Times New Roman"/>
              </a:rPr>
              <a:t>new</a:t>
            </a:r>
            <a:r>
              <a:rPr dirty="0" sz="2800">
                <a:latin typeface="Times New Roman"/>
                <a:cs typeface="Times New Roman"/>
              </a:rPr>
              <a:t>		</a:t>
            </a:r>
            <a:r>
              <a:rPr dirty="0" sz="2800" spc="-10">
                <a:latin typeface="Times New Roman"/>
                <a:cs typeface="Times New Roman"/>
              </a:rPr>
              <a:t>system,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quickly </a:t>
            </a:r>
            <a:r>
              <a:rPr dirty="0" sz="2800" spc="-2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immediately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turns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80097" y="1850262"/>
            <a:ext cx="150114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95"/>
              </a:spcBef>
              <a:tabLst>
                <a:tab pos="972185" algn="l"/>
                <a:tab pos="1289685" algn="l"/>
              </a:tabLst>
            </a:pPr>
            <a:r>
              <a:rPr dirty="0" sz="2800" spc="-10">
                <a:latin typeface="Times New Roman"/>
                <a:cs typeface="Times New Roman"/>
              </a:rPr>
              <a:t>makes</a:t>
            </a:r>
            <a:r>
              <a:rPr dirty="0" sz="2800">
                <a:latin typeface="Times New Roman"/>
                <a:cs typeface="Times New Roman"/>
              </a:rPr>
              <a:t>		</a:t>
            </a:r>
            <a:r>
              <a:rPr dirty="0" sz="2800" spc="-25">
                <a:latin typeface="Times New Roman"/>
                <a:cs typeface="Times New Roman"/>
              </a:rPr>
              <a:t>it off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4540" y="2618003"/>
            <a:ext cx="7615555" cy="3452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latin typeface="Times New Roman"/>
                <a:cs typeface="Times New Roman"/>
              </a:rPr>
              <a:t>overlapping</a:t>
            </a:r>
            <a:r>
              <a:rPr dirty="0" sz="2800" spc="-1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Advantages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 spc="-10">
                <a:latin typeface="Times New Roman"/>
                <a:cs typeface="Times New Roman"/>
              </a:rPr>
              <a:t>Simplicity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Disadvantages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Risk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unavailability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219835" algn="l"/>
                <a:tab pos="2125345" algn="l"/>
                <a:tab pos="2416175" algn="l"/>
                <a:tab pos="3141980" algn="l"/>
                <a:tab pos="4634230" algn="l"/>
                <a:tab pos="5223510" algn="l"/>
                <a:tab pos="6678295" algn="l"/>
                <a:tab pos="7147559" algn="l"/>
              </a:tabLst>
            </a:pPr>
            <a:r>
              <a:rPr dirty="0" sz="2800" spc="-20">
                <a:latin typeface="Times New Roman"/>
                <a:cs typeface="Times New Roman"/>
              </a:rPr>
              <a:t>Used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when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new</a:t>
            </a:r>
            <a:r>
              <a:rPr dirty="0" sz="2800">
                <a:latin typeface="Times New Roman"/>
                <a:cs typeface="Times New Roman"/>
              </a:rPr>
              <a:t>	system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not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replacing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35">
                <a:latin typeface="Times New Roman"/>
                <a:cs typeface="Times New Roman"/>
              </a:rPr>
              <a:t>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old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and/or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downtime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tolerated.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61817" y="5290820"/>
            <a:ext cx="349948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8046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23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Direct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deployment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cutover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20" y="1295400"/>
            <a:ext cx="8407279" cy="34814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2645" y="813257"/>
            <a:ext cx="491871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Parallel</a:t>
            </a:r>
            <a:r>
              <a:rPr dirty="0" spc="-25"/>
              <a:t> </a:t>
            </a: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774062"/>
            <a:ext cx="7612380" cy="4305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891664" algn="l"/>
                <a:tab pos="2799080" algn="l"/>
                <a:tab pos="3524250" algn="l"/>
                <a:tab pos="4311015" algn="l"/>
                <a:tab pos="5176520" algn="l"/>
                <a:tab pos="6576059" algn="l"/>
                <a:tab pos="7265034" algn="l"/>
              </a:tabLst>
            </a:pPr>
            <a:r>
              <a:rPr dirty="0" sz="2800" spc="-10">
                <a:latin typeface="Times New Roman"/>
                <a:cs typeface="Times New Roman"/>
              </a:rPr>
              <a:t>Operates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both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old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new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systems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for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 </a:t>
            </a:r>
            <a:r>
              <a:rPr dirty="0" sz="2800">
                <a:latin typeface="Times New Roman"/>
                <a:cs typeface="Times New Roman"/>
              </a:rPr>
              <a:t>extended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time </a:t>
            </a:r>
            <a:r>
              <a:rPr dirty="0" sz="2800" spc="-10">
                <a:latin typeface="Times New Roman"/>
                <a:cs typeface="Times New Roman"/>
              </a:rPr>
              <a:t>period.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Advantages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Relatively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low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risk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failure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Disadvantage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Cost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operate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both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systems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Used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 </a:t>
            </a:r>
            <a:r>
              <a:rPr dirty="0" sz="2800" spc="-10">
                <a:latin typeface="Times New Roman"/>
                <a:cs typeface="Times New Roman"/>
              </a:rPr>
              <a:t>mission-</a:t>
            </a:r>
            <a:r>
              <a:rPr dirty="0" sz="2800">
                <a:latin typeface="Times New Roman"/>
                <a:cs typeface="Times New Roman"/>
              </a:rPr>
              <a:t>critical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applications.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463675" algn="l"/>
                <a:tab pos="2707640" algn="l"/>
                <a:tab pos="4562475" algn="l"/>
                <a:tab pos="5234305" algn="l"/>
                <a:tab pos="5749290" algn="l"/>
              </a:tabLst>
            </a:pPr>
            <a:r>
              <a:rPr dirty="0" sz="2800" spc="-10">
                <a:latin typeface="Times New Roman"/>
                <a:cs typeface="Times New Roman"/>
              </a:rPr>
              <a:t>Partial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parallel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deployment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be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implemented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increased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risk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undetected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5889" y="5290820"/>
            <a:ext cx="386397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298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24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Parallel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deployment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operation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01781" y="0"/>
            <a:ext cx="8742680" cy="4965065"/>
            <a:chOff x="401781" y="0"/>
            <a:chExt cx="8742680" cy="4965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781" y="914400"/>
              <a:ext cx="8513618" cy="40503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1108075">
              <a:lnSpc>
                <a:spcPct val="100000"/>
              </a:lnSpc>
              <a:spcBef>
                <a:spcPts val="105"/>
              </a:spcBef>
            </a:pPr>
            <a:r>
              <a:rPr dirty="0"/>
              <a:t>Phased </a:t>
            </a: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68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/>
              <a:t>Installs</a:t>
            </a:r>
            <a:r>
              <a:rPr dirty="0" spc="5"/>
              <a:t> </a:t>
            </a:r>
            <a:r>
              <a:rPr dirty="0"/>
              <a:t>a new</a:t>
            </a:r>
            <a:r>
              <a:rPr dirty="0" spc="10"/>
              <a:t> </a:t>
            </a:r>
            <a:r>
              <a:rPr dirty="0"/>
              <a:t>system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/>
              <a:t>makes</a:t>
            </a:r>
            <a:r>
              <a:rPr dirty="0" spc="20"/>
              <a:t> </a:t>
            </a:r>
            <a:r>
              <a:rPr dirty="0"/>
              <a:t>it</a:t>
            </a:r>
            <a:r>
              <a:rPr dirty="0" spc="10"/>
              <a:t> </a:t>
            </a:r>
            <a:r>
              <a:rPr dirty="0"/>
              <a:t>operational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5"/>
              <a:t> </a:t>
            </a:r>
            <a:r>
              <a:rPr dirty="0" spc="-50"/>
              <a:t>a </a:t>
            </a:r>
            <a:r>
              <a:rPr dirty="0"/>
              <a:t>series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steps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 spc="-10"/>
              <a:t>phases.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pc="-10"/>
              <a:t>Advantages</a:t>
            </a:r>
          </a:p>
          <a:p>
            <a:pPr algn="r" lvl="1" marL="294005" marR="5112385" indent="-294005">
              <a:lnSpc>
                <a:spcPct val="100000"/>
              </a:lnSpc>
              <a:spcBef>
                <a:spcPts val="630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294005" algn="l"/>
              </a:tabLst>
            </a:pPr>
            <a:r>
              <a:rPr dirty="0" sz="2600">
                <a:latin typeface="Times New Roman"/>
                <a:cs typeface="Times New Roman"/>
              </a:rPr>
              <a:t>Reduced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risk</a:t>
            </a:r>
            <a:endParaRPr sz="2600">
              <a:latin typeface="Times New Roman"/>
              <a:cs typeface="Times New Roman"/>
            </a:endParaRPr>
          </a:p>
          <a:p>
            <a:pPr algn="r" marL="342265" marR="5180330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42265" algn="l"/>
              </a:tabLst>
            </a:pPr>
            <a:r>
              <a:rPr dirty="0" spc="-10"/>
              <a:t>Disadvantages</a:t>
            </a:r>
          </a:p>
          <a:p>
            <a:pPr lvl="1" marL="763905" indent="-29400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4230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Increased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complexity</a:t>
            </a:r>
            <a:endParaRPr sz="2600">
              <a:latin typeface="Times New Roman"/>
              <a:cs typeface="Times New Roman"/>
            </a:endParaRPr>
          </a:p>
          <a:p>
            <a:pPr marL="354330" marR="571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521460" algn="l"/>
                <a:tab pos="2510790" algn="l"/>
                <a:tab pos="2885440" algn="l"/>
                <a:tab pos="4090035" algn="l"/>
                <a:tab pos="4545330" algn="l"/>
                <a:tab pos="5557520" algn="l"/>
                <a:tab pos="7089775" algn="l"/>
              </a:tabLst>
            </a:pPr>
            <a:r>
              <a:rPr dirty="0" spc="-10"/>
              <a:t>Useful</a:t>
            </a:r>
            <a:r>
              <a:rPr dirty="0"/>
              <a:t>	</a:t>
            </a:r>
            <a:r>
              <a:rPr dirty="0" spc="-20"/>
              <a:t>when</a:t>
            </a:r>
            <a:r>
              <a:rPr dirty="0"/>
              <a:t>	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10"/>
              <a:t>system</a:t>
            </a:r>
            <a:r>
              <a:rPr dirty="0"/>
              <a:t>	</a:t>
            </a:r>
            <a:r>
              <a:rPr dirty="0" spc="-25"/>
              <a:t>is</a:t>
            </a:r>
            <a:r>
              <a:rPr dirty="0"/>
              <a:t>	</a:t>
            </a:r>
            <a:r>
              <a:rPr dirty="0" spc="-10"/>
              <a:t>large,</a:t>
            </a:r>
            <a:r>
              <a:rPr dirty="0"/>
              <a:t>	</a:t>
            </a:r>
            <a:r>
              <a:rPr dirty="0" spc="-10"/>
              <a:t>complex,</a:t>
            </a:r>
            <a:r>
              <a:rPr dirty="0"/>
              <a:t>	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/>
              <a:t>composed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relatively</a:t>
            </a:r>
            <a:r>
              <a:rPr dirty="0" spc="-35"/>
              <a:t> </a:t>
            </a:r>
            <a:r>
              <a:rPr dirty="0"/>
              <a:t>independent</a:t>
            </a:r>
            <a:r>
              <a:rPr dirty="0" spc="-50"/>
              <a:t> </a:t>
            </a:r>
            <a:r>
              <a:rPr dirty="0" spc="-10"/>
              <a:t>subsystems.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00708" y="5595620"/>
            <a:ext cx="688784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809625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 spc="-25">
                <a:latin typeface="Times New Roman"/>
                <a:cs typeface="Times New Roman"/>
              </a:rPr>
              <a:t>25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Times New Roman"/>
                <a:cs typeface="Times New Roman"/>
              </a:rPr>
              <a:t>Phased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deployment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direct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cutover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parallel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operation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9015" y="0"/>
            <a:ext cx="8665210" cy="5442585"/>
            <a:chOff x="479015" y="0"/>
            <a:chExt cx="8665210" cy="5442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015" y="228600"/>
              <a:ext cx="8360184" cy="52134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229" y="813257"/>
            <a:ext cx="39592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Personnel</a:t>
            </a:r>
            <a:r>
              <a:rPr dirty="0" spc="-20"/>
              <a:t> </a:t>
            </a:r>
            <a:r>
              <a:rPr dirty="0" spc="-10"/>
              <a:t>Issues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355600" marR="635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/>
              <a:t>New</a:t>
            </a:r>
            <a:r>
              <a:rPr dirty="0" spc="285"/>
              <a:t>   </a:t>
            </a:r>
            <a:r>
              <a:rPr dirty="0"/>
              <a:t>system</a:t>
            </a:r>
            <a:r>
              <a:rPr dirty="0" spc="290"/>
              <a:t>   </a:t>
            </a:r>
            <a:r>
              <a:rPr dirty="0"/>
              <a:t>deployment</a:t>
            </a:r>
            <a:r>
              <a:rPr dirty="0" spc="290"/>
              <a:t>   </a:t>
            </a:r>
            <a:r>
              <a:rPr dirty="0"/>
              <a:t>places</a:t>
            </a:r>
            <a:r>
              <a:rPr dirty="0" spc="290"/>
              <a:t>   </a:t>
            </a:r>
            <a:r>
              <a:rPr dirty="0" spc="-10"/>
              <a:t>significant </a:t>
            </a:r>
            <a:r>
              <a:rPr dirty="0"/>
              <a:t>demands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 spc="-10"/>
              <a:t>personnel.</a:t>
            </a:r>
          </a:p>
          <a:p>
            <a:pPr algn="just" marL="354330" marR="7620" indent="-342265">
              <a:lnSpc>
                <a:spcPct val="100000"/>
              </a:lnSpc>
              <a:spcBef>
                <a:spcPts val="6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pc="-10"/>
              <a:t>Temporary</a:t>
            </a:r>
            <a:r>
              <a:rPr dirty="0" spc="40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/>
              <a:t>contract</a:t>
            </a:r>
            <a:r>
              <a:rPr dirty="0" spc="40"/>
              <a:t> </a:t>
            </a:r>
            <a:r>
              <a:rPr dirty="0"/>
              <a:t>personnel</a:t>
            </a:r>
            <a:r>
              <a:rPr dirty="0" spc="35"/>
              <a:t> </a:t>
            </a:r>
            <a:r>
              <a:rPr dirty="0"/>
              <a:t>may</a:t>
            </a:r>
            <a:r>
              <a:rPr dirty="0" spc="4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/>
              <a:t>hired</a:t>
            </a:r>
            <a:r>
              <a:rPr dirty="0" spc="30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increase</a:t>
            </a:r>
            <a:r>
              <a:rPr dirty="0" spc="5"/>
              <a:t>  </a:t>
            </a:r>
            <a:r>
              <a:rPr dirty="0"/>
              <a:t>manpower,</a:t>
            </a:r>
            <a:r>
              <a:rPr dirty="0" spc="5"/>
              <a:t>  </a:t>
            </a:r>
            <a:r>
              <a:rPr dirty="0"/>
              <a:t>especially</a:t>
            </a:r>
            <a:r>
              <a:rPr dirty="0" spc="5"/>
              <a:t>  </a:t>
            </a:r>
            <a:r>
              <a:rPr dirty="0"/>
              <a:t>during</a:t>
            </a:r>
            <a:r>
              <a:rPr dirty="0" spc="5"/>
              <a:t>  </a:t>
            </a:r>
            <a:r>
              <a:rPr dirty="0"/>
              <a:t>a</a:t>
            </a:r>
            <a:r>
              <a:rPr dirty="0" spc="5"/>
              <a:t>  </a:t>
            </a:r>
            <a:r>
              <a:rPr dirty="0" spc="-10"/>
              <a:t>parallel 	deployment.</a:t>
            </a:r>
          </a:p>
          <a:p>
            <a:pPr algn="just" lvl="1" marL="763905" indent="-295275">
              <a:lnSpc>
                <a:spcPct val="100000"/>
              </a:lnSpc>
              <a:spcBef>
                <a:spcPts val="64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System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operators</a:t>
            </a:r>
            <a:endParaRPr sz="2600">
              <a:latin typeface="Times New Roman"/>
              <a:cs typeface="Times New Roman"/>
            </a:endParaRPr>
          </a:p>
          <a:p>
            <a:pPr algn="just" lvl="1" marL="756285" marR="5080" indent="-288290">
              <a:lnSpc>
                <a:spcPct val="100000"/>
              </a:lnSpc>
              <a:spcBef>
                <a:spcPts val="620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Personnel</a:t>
            </a:r>
            <a:r>
              <a:rPr dirty="0" sz="2600" spc="1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1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experience</a:t>
            </a:r>
            <a:r>
              <a:rPr dirty="0" sz="2600" spc="1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1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hardware</a:t>
            </a:r>
            <a:r>
              <a:rPr dirty="0" sz="2600" spc="1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1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software </a:t>
            </a:r>
            <a:r>
              <a:rPr dirty="0" sz="2600">
                <a:latin typeface="Times New Roman"/>
                <a:cs typeface="Times New Roman"/>
              </a:rPr>
              <a:t>deployment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configuration</a:t>
            </a:r>
            <a:endParaRPr sz="2600">
              <a:latin typeface="Times New Roman"/>
              <a:cs typeface="Times New Roman"/>
            </a:endParaRPr>
          </a:p>
          <a:p>
            <a:pPr algn="just" marL="355600" marR="5715" indent="-343535">
              <a:lnSpc>
                <a:spcPct val="100000"/>
              </a:lnSpc>
              <a:spcBef>
                <a:spcPts val="6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/>
              <a:t>Employee</a:t>
            </a:r>
            <a:r>
              <a:rPr dirty="0" spc="55"/>
              <a:t> </a:t>
            </a:r>
            <a:r>
              <a:rPr dirty="0"/>
              <a:t>productivity</a:t>
            </a:r>
            <a:r>
              <a:rPr dirty="0" spc="75"/>
              <a:t> </a:t>
            </a:r>
            <a:r>
              <a:rPr dirty="0"/>
              <a:t>decreases</a:t>
            </a:r>
            <a:r>
              <a:rPr dirty="0" spc="65"/>
              <a:t> </a:t>
            </a:r>
            <a:r>
              <a:rPr dirty="0"/>
              <a:t>temporarily</a:t>
            </a:r>
            <a:r>
              <a:rPr dirty="0" spc="80"/>
              <a:t> </a:t>
            </a:r>
            <a:r>
              <a:rPr dirty="0" spc="-20"/>
              <a:t>with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new</a:t>
            </a:r>
            <a:r>
              <a:rPr dirty="0" spc="-10"/>
              <a:t> </a:t>
            </a:r>
            <a:r>
              <a:rPr dirty="0"/>
              <a:t>system</a:t>
            </a:r>
            <a:r>
              <a:rPr dirty="0" spc="-20"/>
              <a:t> </a:t>
            </a:r>
            <a:r>
              <a:rPr dirty="0"/>
              <a:t>due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0"/>
              <a:t> </a:t>
            </a:r>
            <a:r>
              <a:rPr dirty="0" spc="-10"/>
              <a:t>curve.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1621790">
              <a:lnSpc>
                <a:spcPct val="100000"/>
              </a:lnSpc>
              <a:spcBef>
                <a:spcPts val="105"/>
              </a:spcBef>
            </a:pPr>
            <a:r>
              <a:rPr dirty="0"/>
              <a:t>RMO</a:t>
            </a:r>
            <a:r>
              <a:rPr dirty="0" spc="-20"/>
              <a:t> </a:t>
            </a:r>
            <a:r>
              <a:rPr dirty="0" spc="-10"/>
              <a:t>Revisited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69722"/>
            <a:ext cx="7615555" cy="387857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Deals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highest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risks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early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iterations.</a:t>
            </a:r>
            <a:endParaRPr sz="28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Acquire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new</a:t>
            </a:r>
            <a:r>
              <a:rPr dirty="0" sz="2600" spc="-10">
                <a:latin typeface="Times New Roman"/>
                <a:cs typeface="Times New Roman"/>
              </a:rPr>
              <a:t> infrastructure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Develop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 cases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involving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 spc="-60">
                <a:latin typeface="Times New Roman"/>
                <a:cs typeface="Times New Roman"/>
              </a:rPr>
              <a:t>Web-</a:t>
            </a:r>
            <a:r>
              <a:rPr dirty="0" sz="2600">
                <a:latin typeface="Times New Roman"/>
                <a:cs typeface="Times New Roman"/>
              </a:rPr>
              <a:t>based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interfaces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 spc="-20">
                <a:latin typeface="Times New Roman"/>
                <a:cs typeface="Times New Roman"/>
              </a:rPr>
              <a:t>Tests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high-</a:t>
            </a:r>
            <a:r>
              <a:rPr dirty="0" sz="2800">
                <a:latin typeface="Times New Roman"/>
                <a:cs typeface="Times New Roman"/>
              </a:rPr>
              <a:t>risk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elements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early.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256030" algn="l"/>
                <a:tab pos="2454275" algn="l"/>
                <a:tab pos="4342765" algn="l"/>
                <a:tab pos="5185410" algn="l"/>
                <a:tab pos="5830570" algn="l"/>
                <a:tab pos="7068184" algn="l"/>
              </a:tabLst>
            </a:pPr>
            <a:r>
              <a:rPr dirty="0" sz="2800" spc="-20">
                <a:latin typeface="Times New Roman"/>
                <a:cs typeface="Times New Roman"/>
              </a:rPr>
              <a:t>Uses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phased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deployment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with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highest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risk </a:t>
            </a:r>
            <a:r>
              <a:rPr dirty="0" sz="2800">
                <a:latin typeface="Times New Roman"/>
                <a:cs typeface="Times New Roman"/>
              </a:rPr>
              <a:t>portion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deployed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first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(in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parallel).</a:t>
            </a:r>
            <a:endParaRPr sz="28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670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1867535" algn="l"/>
                <a:tab pos="3357879" algn="l"/>
                <a:tab pos="5024120" algn="l"/>
                <a:tab pos="6972300" algn="l"/>
              </a:tabLst>
            </a:pPr>
            <a:r>
              <a:rPr dirty="0" sz="2800" spc="-10">
                <a:latin typeface="Times New Roman"/>
                <a:cs typeface="Times New Roman"/>
              </a:rPr>
              <a:t>Spreads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training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activities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throughout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later 	iterations.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4763" y="0"/>
            <a:ext cx="8759825" cy="5943600"/>
            <a:chOff x="384763" y="0"/>
            <a:chExt cx="8759825" cy="594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763" y="228600"/>
              <a:ext cx="8302036" cy="571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2064" y="0"/>
              <a:ext cx="1011935" cy="123443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342769" y="5949188"/>
            <a:ext cx="43802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Figure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13-</a:t>
            </a:r>
            <a:r>
              <a:rPr dirty="0" sz="2200">
                <a:latin typeface="Times New Roman"/>
                <a:cs typeface="Times New Roman"/>
              </a:rPr>
              <a:t>26: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RMO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CSS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iteration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plan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22955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Summary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2002662"/>
            <a:ext cx="7617459" cy="3853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762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773045" algn="l"/>
                <a:tab pos="3176905" algn="l"/>
                <a:tab pos="4655185" algn="l"/>
                <a:tab pos="5964555" algn="l"/>
                <a:tab pos="6409690" algn="l"/>
              </a:tabLst>
            </a:pPr>
            <a:r>
              <a:rPr dirty="0" sz="2800" spc="-10">
                <a:latin typeface="Times New Roman"/>
                <a:cs typeface="Times New Roman"/>
              </a:rPr>
              <a:t>Implementation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complex,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difficult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to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manage,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risky.</a:t>
            </a:r>
            <a:endParaRPr sz="2800">
              <a:latin typeface="Times New Roman"/>
              <a:cs typeface="Times New Roman"/>
            </a:endParaRPr>
          </a:p>
          <a:p>
            <a:pPr marL="355600" marR="7620" indent="-343535">
              <a:lnSpc>
                <a:spcPct val="100000"/>
              </a:lnSpc>
              <a:spcBef>
                <a:spcPts val="218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  <a:tab pos="2768600" algn="l"/>
                <a:tab pos="3444875" algn="l"/>
                <a:tab pos="4558030" algn="l"/>
                <a:tab pos="5153660" algn="l"/>
                <a:tab pos="5851525" algn="l"/>
                <a:tab pos="6313805" algn="l"/>
                <a:tab pos="6911340" algn="l"/>
              </a:tabLst>
            </a:pPr>
            <a:r>
              <a:rPr dirty="0" sz="2800" spc="-10">
                <a:latin typeface="Times New Roman"/>
                <a:cs typeface="Times New Roman"/>
              </a:rPr>
              <a:t>Implementation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testing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are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two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most </a:t>
            </a:r>
            <a:r>
              <a:rPr dirty="0" sz="2800">
                <a:latin typeface="Times New Roman"/>
                <a:cs typeface="Times New Roman"/>
              </a:rPr>
              <a:t>interdependent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UP</a:t>
            </a:r>
            <a:r>
              <a:rPr dirty="0" sz="2800" spc="-1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disciplines.</a:t>
            </a:r>
            <a:endParaRPr sz="2800">
              <a:latin typeface="Times New Roman"/>
              <a:cs typeface="Times New Roman"/>
            </a:endParaRPr>
          </a:p>
          <a:p>
            <a:pPr algn="just" lvl="1" marL="756285" marR="5080" indent="-288290">
              <a:lnSpc>
                <a:spcPct val="100000"/>
              </a:lnSpc>
              <a:spcBef>
                <a:spcPts val="2039"/>
              </a:spcBef>
              <a:buSzPct val="96153"/>
              <a:buFont typeface="Wingdings"/>
              <a:buChar char=""/>
              <a:tabLst>
                <a:tab pos="756285" algn="l"/>
                <a:tab pos="763270" algn="l"/>
              </a:tabLst>
            </a:pPr>
            <a:r>
              <a:rPr dirty="0" sz="2600">
                <a:solidFill>
                  <a:srgbClr val="99CC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1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program</a:t>
            </a:r>
            <a:r>
              <a:rPr dirty="0" sz="2600" spc="2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development</a:t>
            </a:r>
            <a:r>
              <a:rPr dirty="0" sz="2600" spc="254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plan</a:t>
            </a:r>
            <a:r>
              <a:rPr dirty="0" sz="2600" spc="254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2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2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trade-</a:t>
            </a:r>
            <a:r>
              <a:rPr dirty="0" sz="2600">
                <a:latin typeface="Times New Roman"/>
                <a:cs typeface="Times New Roman"/>
              </a:rPr>
              <a:t>off</a:t>
            </a:r>
            <a:r>
              <a:rPr dirty="0" sz="2600" spc="2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among </a:t>
            </a:r>
            <a:r>
              <a:rPr dirty="0" sz="2600">
                <a:latin typeface="Times New Roman"/>
                <a:cs typeface="Times New Roman"/>
              </a:rPr>
              <a:t>available</a:t>
            </a:r>
            <a:r>
              <a:rPr dirty="0" sz="2600" spc="5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resources,</a:t>
            </a:r>
            <a:r>
              <a:rPr dirty="0" sz="2600" spc="5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available</a:t>
            </a:r>
            <a:r>
              <a:rPr dirty="0" sz="2600" spc="5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time,</a:t>
            </a:r>
            <a:r>
              <a:rPr dirty="0" sz="2600" spc="5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5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desire</a:t>
            </a:r>
            <a:r>
              <a:rPr dirty="0" sz="2600" spc="57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to </a:t>
            </a:r>
            <a:r>
              <a:rPr dirty="0" sz="2600">
                <a:latin typeface="Times New Roman"/>
                <a:cs typeface="Times New Roman"/>
              </a:rPr>
              <a:t>detect</a:t>
            </a:r>
            <a:r>
              <a:rPr dirty="0" sz="2600" spc="250">
                <a:latin typeface="Times New Roman"/>
                <a:cs typeface="Times New Roman"/>
              </a:rPr>
              <a:t>  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260">
                <a:latin typeface="Times New Roman"/>
                <a:cs typeface="Times New Roman"/>
              </a:rPr>
              <a:t>   </a:t>
            </a:r>
            <a:r>
              <a:rPr dirty="0" sz="2600">
                <a:latin typeface="Times New Roman"/>
                <a:cs typeface="Times New Roman"/>
              </a:rPr>
              <a:t>correct</a:t>
            </a:r>
            <a:r>
              <a:rPr dirty="0" sz="2600" spc="250">
                <a:latin typeface="Times New Roman"/>
                <a:cs typeface="Times New Roman"/>
              </a:rPr>
              <a:t>   </a:t>
            </a:r>
            <a:r>
              <a:rPr dirty="0" sz="2600">
                <a:latin typeface="Times New Roman"/>
                <a:cs typeface="Times New Roman"/>
              </a:rPr>
              <a:t>errors</a:t>
            </a:r>
            <a:r>
              <a:rPr dirty="0" sz="2600" spc="250">
                <a:latin typeface="Times New Roman"/>
                <a:cs typeface="Times New Roman"/>
              </a:rPr>
              <a:t>   </a:t>
            </a:r>
            <a:r>
              <a:rPr dirty="0" sz="2600">
                <a:latin typeface="Times New Roman"/>
                <a:cs typeface="Times New Roman"/>
              </a:rPr>
              <a:t>prior</a:t>
            </a:r>
            <a:r>
              <a:rPr dirty="0" sz="2600" spc="254">
                <a:latin typeface="Times New Roman"/>
                <a:cs typeface="Times New Roman"/>
              </a:rPr>
              <a:t>  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254">
                <a:latin typeface="Times New Roman"/>
                <a:cs typeface="Times New Roman"/>
              </a:rPr>
              <a:t>   </a:t>
            </a:r>
            <a:r>
              <a:rPr dirty="0" sz="2600" spc="-10">
                <a:latin typeface="Times New Roman"/>
                <a:cs typeface="Times New Roman"/>
              </a:rPr>
              <a:t>system development.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10" rIns="0" bIns="0" rtlCol="0" vert="horz">
            <a:spAutoFit/>
          </a:bodyPr>
          <a:lstStyle/>
          <a:p>
            <a:pPr marL="859790">
              <a:lnSpc>
                <a:spcPct val="100000"/>
              </a:lnSpc>
              <a:spcBef>
                <a:spcPts val="105"/>
              </a:spcBef>
            </a:pPr>
            <a:r>
              <a:rPr dirty="0"/>
              <a:t>Summary</a:t>
            </a:r>
            <a:r>
              <a:rPr dirty="0" spc="-25"/>
              <a:t> </a:t>
            </a:r>
            <a:r>
              <a:rPr dirty="0" spc="-10"/>
              <a:t>(continued)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850262"/>
            <a:ext cx="7616190" cy="4196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Font typeface="Wingdings"/>
              <a:buChar char="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Configuration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change</a:t>
            </a:r>
            <a:r>
              <a:rPr dirty="0" sz="2800" spc="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discipline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most</a:t>
            </a:r>
            <a:r>
              <a:rPr dirty="0" sz="2800" spc="20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applicable</a:t>
            </a:r>
            <a:r>
              <a:rPr dirty="0" sz="2800" spc="2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projects</a:t>
            </a:r>
            <a:r>
              <a:rPr dirty="0" sz="2800" spc="2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20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too</a:t>
            </a:r>
            <a:r>
              <a:rPr dirty="0" sz="2800" spc="2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large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deploy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single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version.</a:t>
            </a:r>
            <a:endParaRPr sz="2800">
              <a:latin typeface="Times New Roman"/>
              <a:cs typeface="Times New Roman"/>
            </a:endParaRPr>
          </a:p>
          <a:p>
            <a:pPr algn="just"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Use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versioning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manage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large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projects.</a:t>
            </a:r>
            <a:endParaRPr sz="26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665"/>
              </a:spcBef>
              <a:buClr>
                <a:srgbClr val="99CCFF"/>
              </a:buClr>
              <a:buFont typeface="Wingdings"/>
              <a:buChar char="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Deployment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activities</a:t>
            </a:r>
            <a:endParaRPr sz="28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3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Acquiring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hardware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 </a:t>
            </a:r>
            <a:r>
              <a:rPr dirty="0" sz="2600" spc="-10">
                <a:latin typeface="Times New Roman"/>
                <a:cs typeface="Times New Roman"/>
              </a:rPr>
              <a:t>software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0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Packaging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installing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components</a:t>
            </a:r>
            <a:endParaRPr sz="2600">
              <a:latin typeface="Times New Roman"/>
              <a:cs typeface="Times New Roman"/>
            </a:endParaRPr>
          </a:p>
          <a:p>
            <a:pPr lvl="1" marL="763270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270" algn="l"/>
              </a:tabLst>
            </a:pPr>
            <a:r>
              <a:rPr dirty="0" sz="2600">
                <a:latin typeface="Times New Roman"/>
                <a:cs typeface="Times New Roman"/>
              </a:rPr>
              <a:t>Training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users</a:t>
            </a:r>
            <a:endParaRPr sz="2600">
              <a:latin typeface="Times New Roman"/>
              <a:cs typeface="Times New Roman"/>
            </a:endParaRPr>
          </a:p>
          <a:p>
            <a:pPr lvl="1" marL="763905" indent="-295275">
              <a:lnSpc>
                <a:spcPct val="100000"/>
              </a:lnSpc>
              <a:spcBef>
                <a:spcPts val="625"/>
              </a:spcBef>
              <a:buClr>
                <a:srgbClr val="99CCFF"/>
              </a:buClr>
              <a:buSzPct val="96153"/>
              <a:buFont typeface="Wingdings"/>
              <a:buChar char=""/>
              <a:tabLst>
                <a:tab pos="763905" algn="l"/>
              </a:tabLst>
            </a:pPr>
            <a:r>
              <a:rPr dirty="0" sz="2600">
                <a:latin typeface="Times New Roman"/>
                <a:cs typeface="Times New Roman"/>
              </a:rPr>
              <a:t>Converting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initializing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data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95" y="0"/>
            <a:ext cx="975304" cy="12344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Chimborazo</dc:creator>
  <dc:title>Introduction to Computer Science</dc:title>
  <dcterms:created xsi:type="dcterms:W3CDTF">2026-02-16T05:57:31Z</dcterms:created>
  <dcterms:modified xsi:type="dcterms:W3CDTF">2026-02-16T05:57:31Z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2026-02-16T00:00:00Z</vt:filetime>
  </property>
  <property fmtid="{D5CDD505-2E9C-101B-9397-08002B2CF9AE}" pid="5" name="Producer">
    <vt:lpwstr>Microsoft® PowerPoint® 2019</vt:lpwstr>
  </property>
</Properties>
</file>